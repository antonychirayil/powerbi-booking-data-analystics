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7.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9.xml" ContentType="application/vnd.openxmlformats-officedocument.drawingml.chart+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7" r:id="rId2"/>
    <p:sldId id="256" r:id="rId3"/>
    <p:sldId id="270" r:id="rId4"/>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346" autoAdjust="0"/>
  </p:normalViewPr>
  <p:slideViewPr>
    <p:cSldViewPr snapToGrid="0" snapToObjects="1">
      <p:cViewPr varScale="1">
        <p:scale>
          <a:sx n="73" d="100"/>
          <a:sy n="73" d="100"/>
        </p:scale>
        <p:origin x="10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rayil, Antony" userId="51921140a35ad159" providerId="LiveId" clId="{5DCBCB8F-7B36-4152-953D-5597ADA11B63}"/>
    <pc:docChg chg="custSel addSld delSld modSld sldOrd">
      <pc:chgData name="Chirayil, Antony" userId="51921140a35ad159" providerId="LiveId" clId="{5DCBCB8F-7B36-4152-953D-5597ADA11B63}" dt="2026-09-06T06:28:23.159" v="35"/>
      <pc:docMkLst>
        <pc:docMk/>
      </pc:docMkLst>
      <pc:sldChg chg="mod setBg">
        <pc:chgData name="Chirayil, Antony" userId="51921140a35ad159" providerId="LiveId" clId="{5DCBCB8F-7B36-4152-953D-5597ADA11B63}" dt="2026-09-05T19:45:03.978" v="32"/>
        <pc:sldMkLst>
          <pc:docMk/>
          <pc:sldMk cId="0" sldId="258"/>
        </pc:sldMkLst>
      </pc:sldChg>
      <pc:sldChg chg="modSp mod">
        <pc:chgData name="Chirayil, Antony" userId="51921140a35ad159" providerId="LiveId" clId="{5DCBCB8F-7B36-4152-953D-5597ADA11B63}" dt="2026-09-06T06:12:46.084" v="33" actId="1036"/>
        <pc:sldMkLst>
          <pc:docMk/>
          <pc:sldMk cId="0" sldId="262"/>
        </pc:sldMkLst>
        <pc:spChg chg="mod">
          <ac:chgData name="Chirayil, Antony" userId="51921140a35ad159" providerId="LiveId" clId="{5DCBCB8F-7B36-4152-953D-5597ADA11B63}" dt="2026-09-06T06:12:46.084" v="33" actId="1036"/>
          <ac:spMkLst>
            <pc:docMk/>
            <pc:sldMk cId="0" sldId="262"/>
            <ac:spMk id="8" creationId="{00000000-0000-0000-0000-000000000000}"/>
          </ac:spMkLst>
        </pc:spChg>
      </pc:sldChg>
      <pc:sldChg chg="new del mod ord setBg">
        <pc:chgData name="Chirayil, Antony" userId="51921140a35ad159" providerId="LiveId" clId="{5DCBCB8F-7B36-4152-953D-5597ADA11B63}" dt="2026-09-05T18:23:18.270" v="4"/>
        <pc:sldMkLst>
          <pc:docMk/>
          <pc:sldMk cId="609427461" sldId="266"/>
        </pc:sldMkLst>
      </pc:sldChg>
      <pc:sldChg chg="modSp add mod modTransition">
        <pc:chgData name="Chirayil, Antony" userId="51921140a35ad159" providerId="LiveId" clId="{5DCBCB8F-7B36-4152-953D-5597ADA11B63}" dt="2026-09-06T06:28:23.159" v="35"/>
        <pc:sldMkLst>
          <pc:docMk/>
          <pc:sldMk cId="2562997987" sldId="267"/>
        </pc:sldMkLst>
        <pc:spChg chg="mod">
          <ac:chgData name="Chirayil, Antony" userId="51921140a35ad159" providerId="LiveId" clId="{5DCBCB8F-7B36-4152-953D-5597ADA11B63}" dt="2026-09-05T18:23:18.297" v="6"/>
          <ac:spMkLst>
            <pc:docMk/>
            <pc:sldMk cId="2562997987" sldId="267"/>
            <ac:spMk id="4" creationId="{00000000-0000-0000-0000-000000000000}"/>
          </ac:spMkLst>
        </pc:spChg>
        <pc:spChg chg="mod">
          <ac:chgData name="Chirayil, Antony" userId="51921140a35ad159" providerId="LiveId" clId="{5DCBCB8F-7B36-4152-953D-5597ADA11B63}" dt="2026-09-05T18:23:18.297" v="8"/>
          <ac:spMkLst>
            <pc:docMk/>
            <pc:sldMk cId="2562997987" sldId="267"/>
            <ac:spMk id="6" creationId="{00000000-0000-0000-0000-000000000000}"/>
          </ac:spMkLst>
        </pc:spChg>
        <pc:spChg chg="mod">
          <ac:chgData name="Chirayil, Antony" userId="51921140a35ad159" providerId="LiveId" clId="{5DCBCB8F-7B36-4152-953D-5597ADA11B63}" dt="2026-09-05T18:23:18.297" v="10"/>
          <ac:spMkLst>
            <pc:docMk/>
            <pc:sldMk cId="2562997987" sldId="267"/>
            <ac:spMk id="7" creationId="{00000000-0000-0000-0000-000000000000}"/>
          </ac:spMkLst>
        </pc:spChg>
        <pc:spChg chg="mod">
          <ac:chgData name="Chirayil, Antony" userId="51921140a35ad159" providerId="LiveId" clId="{5DCBCB8F-7B36-4152-953D-5597ADA11B63}" dt="2026-09-05T18:23:18.297" v="12"/>
          <ac:spMkLst>
            <pc:docMk/>
            <pc:sldMk cId="2562997987" sldId="267"/>
            <ac:spMk id="9" creationId="{00000000-0000-0000-0000-000000000000}"/>
          </ac:spMkLst>
        </pc:spChg>
        <pc:spChg chg="mod">
          <ac:chgData name="Chirayil, Antony" userId="51921140a35ad159" providerId="LiveId" clId="{5DCBCB8F-7B36-4152-953D-5597ADA11B63}" dt="2026-09-05T18:23:18.305" v="14"/>
          <ac:spMkLst>
            <pc:docMk/>
            <pc:sldMk cId="2562997987" sldId="267"/>
            <ac:spMk id="10" creationId="{00000000-0000-0000-0000-000000000000}"/>
          </ac:spMkLst>
        </pc:spChg>
      </pc:sldChg>
      <pc:sldChg chg="new del mod ord setBg">
        <pc:chgData name="Chirayil, Antony" userId="51921140a35ad159" providerId="LiveId" clId="{5DCBCB8F-7B36-4152-953D-5597ADA11B63}" dt="2026-09-05T18:24:11.803" v="19"/>
        <pc:sldMkLst>
          <pc:docMk/>
          <pc:sldMk cId="1603401008" sldId="268"/>
        </pc:sldMkLst>
      </pc:sldChg>
      <pc:sldChg chg="add del">
        <pc:chgData name="Chirayil, Antony" userId="51921140a35ad159" providerId="LiveId" clId="{5DCBCB8F-7B36-4152-953D-5597ADA11B63}" dt="2026-09-05T18:24:35.632" v="21"/>
        <pc:sldMkLst>
          <pc:docMk/>
          <pc:sldMk cId="981999976" sldId="269"/>
        </pc:sldMkLst>
      </pc:sldChg>
      <pc:sldChg chg="modSp add mod">
        <pc:chgData name="Chirayil, Antony" userId="51921140a35ad159" providerId="LiveId" clId="{5DCBCB8F-7B36-4152-953D-5597ADA11B63}" dt="2026-09-05T18:24:35.650" v="23"/>
        <pc:sldMkLst>
          <pc:docMk/>
          <pc:sldMk cId="3104620413" sldId="270"/>
        </pc:sldMkLst>
        <pc:spChg chg="mod">
          <ac:chgData name="Chirayil, Antony" userId="51921140a35ad159" providerId="LiveId" clId="{5DCBCB8F-7B36-4152-953D-5597ADA11B63}" dt="2026-09-05T18:24:35.650" v="23"/>
          <ac:spMkLst>
            <pc:docMk/>
            <pc:sldMk cId="3104620413" sldId="270"/>
            <ac:spMk id="2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Bookings</c:v>
                </c:pt>
              </c:strCache>
            </c:strRef>
          </c:tx>
          <c:spPr>
            <a:ln w="31750" cap="flat">
              <a:solidFill>
                <a:srgbClr val="4A3AA7"/>
              </a:solidFill>
              <a:prstDash val="solid"/>
              <a:round/>
            </a:ln>
            <a:effectLst/>
          </c:spPr>
          <c:marker>
            <c:symbol val="circle"/>
            <c:size val="6"/>
            <c:spPr>
              <a:solidFill>
                <a:srgbClr val="4A3AA7"/>
              </a:solidFill>
              <a:ln w="9525" cap="flat">
                <a:solidFill>
                  <a:srgbClr val="4A3AA7"/>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12861</c:v>
                </c:pt>
                <c:pt idx="1">
                  <c:v>11927</c:v>
                </c:pt>
                <c:pt idx="2">
                  <c:v>12719</c:v>
                </c:pt>
                <c:pt idx="3">
                  <c:v>12199</c:v>
                </c:pt>
                <c:pt idx="4">
                  <c:v>12778</c:v>
                </c:pt>
                <c:pt idx="5">
                  <c:v>12440</c:v>
                </c:pt>
                <c:pt idx="6">
                  <c:v>12897</c:v>
                </c:pt>
                <c:pt idx="7">
                  <c:v>12636</c:v>
                </c:pt>
                <c:pt idx="8">
                  <c:v>12248</c:v>
                </c:pt>
                <c:pt idx="9">
                  <c:v>12651</c:v>
                </c:pt>
                <c:pt idx="10">
                  <c:v>12394</c:v>
                </c:pt>
                <c:pt idx="11">
                  <c:v>12250</c:v>
                </c:pt>
              </c:numCache>
            </c:numRef>
          </c:val>
          <c:smooth val="0"/>
          <c:extLst>
            <c:ext xmlns:c16="http://schemas.microsoft.com/office/drawing/2014/chart" uri="{C3380CC4-5D6E-409C-BE32-E72D297353CC}">
              <c16:uniqueId val="{00000000-611B-45B3-A1B8-C714F5FCC0D1}"/>
            </c:ext>
          </c:extLst>
        </c:ser>
        <c:ser>
          <c:idx val="1"/>
          <c:order val="1"/>
          <c:tx>
            <c:strRef>
              <c:f>Sheet1!$C$1</c:f>
              <c:strCache>
                <c:ptCount val="1"/>
                <c:pt idx="0">
                  <c:v>Completed</c:v>
                </c:pt>
              </c:strCache>
            </c:strRef>
          </c:tx>
          <c:spPr>
            <a:ln w="31750" cap="flat">
              <a:solidFill>
                <a:srgbClr val="EB6834"/>
              </a:solidFill>
              <a:prstDash val="solid"/>
              <a:round/>
            </a:ln>
            <a:effectLst/>
          </c:spPr>
          <c:marker>
            <c:symbol val="circle"/>
            <c:size val="6"/>
            <c:spPr>
              <a:solidFill>
                <a:srgbClr val="EB6834"/>
              </a:solidFill>
              <a:ln w="9525" cap="flat">
                <a:solidFill>
                  <a:srgbClr val="EB6834"/>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7951</c:v>
                </c:pt>
                <c:pt idx="1">
                  <c:v>7368</c:v>
                </c:pt>
                <c:pt idx="2">
                  <c:v>7954</c:v>
                </c:pt>
                <c:pt idx="3">
                  <c:v>7632</c:v>
                </c:pt>
                <c:pt idx="4">
                  <c:v>7905</c:v>
                </c:pt>
                <c:pt idx="5">
                  <c:v>7757</c:v>
                </c:pt>
                <c:pt idx="6">
                  <c:v>7926</c:v>
                </c:pt>
                <c:pt idx="7">
                  <c:v>7780</c:v>
                </c:pt>
                <c:pt idx="8">
                  <c:v>7542</c:v>
                </c:pt>
                <c:pt idx="9">
                  <c:v>7905</c:v>
                </c:pt>
                <c:pt idx="10">
                  <c:v>7659</c:v>
                </c:pt>
                <c:pt idx="11">
                  <c:v>7621</c:v>
                </c:pt>
              </c:numCache>
            </c:numRef>
          </c:val>
          <c:smooth val="0"/>
          <c:extLst>
            <c:ext xmlns:c16="http://schemas.microsoft.com/office/drawing/2014/chart" uri="{C3380CC4-5D6E-409C-BE32-E72D297353CC}">
              <c16:uniqueId val="{00000001-611B-45B3-A1B8-C714F5FCC0D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670"/>
                </a:solidFill>
                <a:latin typeface="Calibri"/>
              </a:defRPr>
            </a:pPr>
            <a:endParaRPr lang="en-US"/>
          </a:p>
        </c:txPr>
        <c:crossAx val="2094734552"/>
        <c:crosses val="autoZero"/>
        <c:auto val="1"/>
        <c:lblAlgn val="ctr"/>
        <c:lblOffset val="100"/>
        <c:noMultiLvlLbl val="1"/>
      </c:catAx>
      <c:valAx>
        <c:axId val="2094734552"/>
        <c:scaling>
          <c:orientation val="minMax"/>
          <c:max val="14000"/>
          <c:min val="0"/>
        </c:scaling>
        <c:delete val="0"/>
        <c:axPos val="l"/>
        <c:majorGridlines>
          <c:spPr>
            <a:ln w="12700" cap="flat">
              <a:solidFill>
                <a:srgbClr val="E6E3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670"/>
                </a:solidFill>
                <a:latin typeface="Calibri"/>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000">
              <a:solidFill>
                <a:srgbClr val="5B5670"/>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Booking status</c:v>
                </c:pt>
              </c:strCache>
            </c:strRef>
          </c:tx>
          <c:spPr>
            <a:solidFill>
              <a:schemeClr val="accent1"/>
            </a:solidFill>
            <a:ln w="9525" cap="flat">
              <a:solidFill>
                <a:srgbClr val="F9F9F9"/>
              </a:solidFill>
              <a:prstDash val="solid"/>
              <a:round/>
            </a:ln>
            <a:effectLst/>
          </c:spPr>
          <c:dPt>
            <c:idx val="0"/>
            <c:bubble3D val="0"/>
            <c:spPr>
              <a:solidFill>
                <a:srgbClr val="008300"/>
              </a:solidFill>
              <a:effectLst/>
            </c:spPr>
            <c:extLst>
              <c:ext xmlns:c16="http://schemas.microsoft.com/office/drawing/2014/chart" uri="{C3380CC4-5D6E-409C-BE32-E72D297353CC}">
                <c16:uniqueId val="{00000001-1A8E-43DA-9D65-79B2E66CECE3}"/>
              </c:ext>
            </c:extLst>
          </c:dPt>
          <c:dPt>
            <c:idx val="1"/>
            <c:bubble3D val="0"/>
            <c:spPr>
              <a:solidFill>
                <a:srgbClr val="4A3AA7"/>
              </a:solidFill>
              <a:effectLst/>
            </c:spPr>
            <c:extLst>
              <c:ext xmlns:c16="http://schemas.microsoft.com/office/drawing/2014/chart" uri="{C3380CC4-5D6E-409C-BE32-E72D297353CC}">
                <c16:uniqueId val="{00000003-1A8E-43DA-9D65-79B2E66CECE3}"/>
              </c:ext>
            </c:extLst>
          </c:dPt>
          <c:dPt>
            <c:idx val="2"/>
            <c:bubble3D val="0"/>
            <c:spPr>
              <a:solidFill>
                <a:srgbClr val="EDA100"/>
              </a:solidFill>
              <a:effectLst/>
            </c:spPr>
            <c:extLst>
              <c:ext xmlns:c16="http://schemas.microsoft.com/office/drawing/2014/chart" uri="{C3380CC4-5D6E-409C-BE32-E72D297353CC}">
                <c16:uniqueId val="{00000005-1A8E-43DA-9D65-79B2E66CECE3}"/>
              </c:ext>
            </c:extLst>
          </c:dPt>
          <c:dPt>
            <c:idx val="3"/>
            <c:bubble3D val="0"/>
            <c:spPr>
              <a:solidFill>
                <a:srgbClr val="E87BA4"/>
              </a:solidFill>
              <a:effectLst/>
            </c:spPr>
            <c:extLst>
              <c:ext xmlns:c16="http://schemas.microsoft.com/office/drawing/2014/chart" uri="{C3380CC4-5D6E-409C-BE32-E72D297353CC}">
                <c16:uniqueId val="{00000007-1A8E-43DA-9D65-79B2E66CECE3}"/>
              </c:ext>
            </c:extLst>
          </c:dPt>
          <c:dPt>
            <c:idx val="4"/>
            <c:bubble3D val="0"/>
            <c:spPr>
              <a:solidFill>
                <a:srgbClr val="2A78D6"/>
              </a:solidFill>
              <a:effectLst/>
            </c:spPr>
            <c:extLst>
              <c:ext xmlns:c16="http://schemas.microsoft.com/office/drawing/2014/chart" uri="{C3380CC4-5D6E-409C-BE32-E72D297353CC}">
                <c16:uniqueId val="{00000009-1A8E-43DA-9D65-79B2E66CECE3}"/>
              </c:ext>
            </c:extLst>
          </c:dPt>
          <c:dLbls>
            <c:spPr>
              <a:solidFill>
                <a:prstClr val="white"/>
              </a:solidFill>
              <a:ln>
                <a:solidFill>
                  <a:prstClr val="black">
                    <a:lumMod val="65000"/>
                    <a:lumOff val="35000"/>
                  </a:prstClr>
                </a:solidFill>
              </a:ln>
              <a:effectLst/>
            </c:spPr>
            <c:showLegendKey val="0"/>
            <c:showVal val="0"/>
            <c:showCatName val="0"/>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Sheet1!$A$2:$A$6</c:f>
              <c:strCache>
                <c:ptCount val="5"/>
                <c:pt idx="0">
                  <c:v>Completed</c:v>
                </c:pt>
                <c:pt idx="1">
                  <c:v>Cancelled by driver</c:v>
                </c:pt>
                <c:pt idx="2">
                  <c:v>Cancelled by customer</c:v>
                </c:pt>
                <c:pt idx="3">
                  <c:v>No driver found</c:v>
                </c:pt>
                <c:pt idx="4">
                  <c:v>Incomplete</c:v>
                </c:pt>
              </c:strCache>
            </c:strRef>
          </c:cat>
          <c:val>
            <c:numRef>
              <c:f>Sheet1!$B$2:$B$6</c:f>
              <c:numCache>
                <c:formatCode>General</c:formatCode>
                <c:ptCount val="5"/>
                <c:pt idx="0">
                  <c:v>93000</c:v>
                </c:pt>
                <c:pt idx="1">
                  <c:v>27000</c:v>
                </c:pt>
                <c:pt idx="2">
                  <c:v>10500</c:v>
                </c:pt>
                <c:pt idx="3">
                  <c:v>10500</c:v>
                </c:pt>
                <c:pt idx="4">
                  <c:v>9000</c:v>
                </c:pt>
              </c:numCache>
            </c:numRef>
          </c:val>
          <c:extLst>
            <c:ext xmlns:c16="http://schemas.microsoft.com/office/drawing/2014/chart" uri="{C3380CC4-5D6E-409C-BE32-E72D297353CC}">
              <c16:uniqueId val="{0000000A-1A8E-43DA-9D65-79B2E66CECE3}"/>
            </c:ext>
          </c:extLst>
        </c:ser>
        <c:dLbls>
          <c:showLegendKey val="0"/>
          <c:showVal val="0"/>
          <c:showCatName val="0"/>
          <c:showSerName val="0"/>
          <c:showPercent val="0"/>
          <c:showBubbleSize val="0"/>
          <c:showLeaderLines val="0"/>
        </c:dLbls>
        <c:firstSliceAng val="0"/>
        <c:holeSize val="52"/>
      </c:doughnutChart>
      <c:spPr>
        <a:solidFill>
          <a:srgbClr val="FFFFFF"/>
        </a:solidFill>
        <a:ln>
          <a:noFill/>
        </a:ln>
        <a:effectLst/>
      </c:spPr>
    </c:plotArea>
    <c:legend>
      <c:legendPos val="b"/>
      <c:overlay val="0"/>
      <c:txPr>
        <a:bodyPr/>
        <a:lstStyle/>
        <a:p>
          <a:pPr>
            <a:defRPr sz="900">
              <a:solidFill>
                <a:srgbClr val="5B5670"/>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Total ride distance</c:v>
                </c:pt>
              </c:strCache>
            </c:strRef>
          </c:tx>
          <c:spPr>
            <a:solidFill>
              <a:srgbClr val="4A3AA7"/>
            </a:solidFill>
            <a:effectLst/>
          </c:spPr>
          <c:invertIfNegative val="0"/>
          <c:dLbls>
            <c:numFmt formatCode="#,##0" sourceLinked="0"/>
            <c:spPr>
              <a:noFill/>
              <a:ln>
                <a:noFill/>
              </a:ln>
              <a:effectLst/>
            </c:spPr>
            <c:txPr>
              <a:bodyPr/>
              <a:lstStyle/>
              <a:p>
                <a:pPr>
                  <a:defRPr sz="10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Premier Sedan</c:v>
                </c:pt>
                <c:pt idx="1">
                  <c:v>Bike</c:v>
                </c:pt>
                <c:pt idx="2">
                  <c:v>Go Sedan</c:v>
                </c:pt>
                <c:pt idx="3">
                  <c:v>Go Mini</c:v>
                </c:pt>
                <c:pt idx="4">
                  <c:v>Auto</c:v>
                </c:pt>
              </c:strCache>
            </c:strRef>
          </c:cat>
          <c:val>
            <c:numRef>
              <c:f>Sheet1!$B$2:$B$6</c:f>
              <c:numCache>
                <c:formatCode>General</c:formatCode>
                <c:ptCount val="5"/>
                <c:pt idx="0">
                  <c:v>302936</c:v>
                </c:pt>
                <c:pt idx="1">
                  <c:v>378666</c:v>
                </c:pt>
                <c:pt idx="2">
                  <c:v>450794</c:v>
                </c:pt>
                <c:pt idx="3">
                  <c:v>501201</c:v>
                </c:pt>
                <c:pt idx="4">
                  <c:v>625616</c:v>
                </c:pt>
              </c:numCache>
            </c:numRef>
          </c:val>
          <c:extLst>
            <c:ext xmlns:c16="http://schemas.microsoft.com/office/drawing/2014/chart" uri="{C3380CC4-5D6E-409C-BE32-E72D297353CC}">
              <c16:uniqueId val="{00000000-7F9B-424C-A9C9-1117C522FFB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56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c:v>
                </c:pt>
              </c:strCache>
            </c:strRef>
          </c:tx>
          <c:spPr>
            <a:solidFill>
              <a:srgbClr val="4A3AA7"/>
            </a:solidFill>
            <a:effectLst/>
          </c:spPr>
          <c:invertIfNegative val="0"/>
          <c:dLbls>
            <c:numFmt formatCode="\₹#,##0.0,,&quot;M&quot;" sourceLinked="0"/>
            <c:spPr>
              <a:noFill/>
              <a:ln>
                <a:noFill/>
              </a:ln>
              <a:effectLst/>
            </c:spPr>
            <c:txPr>
              <a:bodyPr/>
              <a:lstStyle/>
              <a:p>
                <a:pPr>
                  <a:defRPr sz="10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Debit Card</c:v>
                </c:pt>
                <c:pt idx="1">
                  <c:v>Credit Card</c:v>
                </c:pt>
                <c:pt idx="2">
                  <c:v>Uber Wallet</c:v>
                </c:pt>
                <c:pt idx="3">
                  <c:v>Cash</c:v>
                </c:pt>
                <c:pt idx="4">
                  <c:v>UPI</c:v>
                </c:pt>
              </c:strCache>
            </c:strRef>
          </c:cat>
          <c:val>
            <c:numRef>
              <c:f>Sheet1!$B$2:$B$6</c:f>
              <c:numCache>
                <c:formatCode>General</c:formatCode>
                <c:ptCount val="5"/>
                <c:pt idx="0">
                  <c:v>4180510</c:v>
                </c:pt>
                <c:pt idx="1">
                  <c:v>5224025</c:v>
                </c:pt>
                <c:pt idx="2">
                  <c:v>6200898</c:v>
                </c:pt>
                <c:pt idx="3">
                  <c:v>12895649</c:v>
                </c:pt>
                <c:pt idx="4">
                  <c:v>23345101</c:v>
                </c:pt>
              </c:numCache>
            </c:numRef>
          </c:val>
          <c:extLst>
            <c:ext xmlns:c16="http://schemas.microsoft.com/office/drawing/2014/chart" uri="{C3380CC4-5D6E-409C-BE32-E72D297353CC}">
              <c16:uniqueId val="{00000000-5456-4C88-841A-16F16685C15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56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Booking value</c:v>
                </c:pt>
              </c:strCache>
            </c:strRef>
          </c:tx>
          <c:spPr>
            <a:solidFill>
              <a:srgbClr val="4A3AA7"/>
            </a:solidFill>
            <a:effectLst/>
          </c:spPr>
          <c:invertIfNegative val="0"/>
          <c:dLbls>
            <c:numFmt formatCode="\₹#,##0" sourceLinked="0"/>
            <c:spPr>
              <a:noFill/>
              <a:ln>
                <a:noFill/>
              </a:ln>
              <a:effectLst/>
            </c:spPr>
            <c:txPr>
              <a:bodyPr/>
              <a:lstStyle/>
              <a:p>
                <a:pPr>
                  <a:defRPr sz="10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CID2978596</c:v>
                </c:pt>
                <c:pt idx="1">
                  <c:v>CID4843078</c:v>
                </c:pt>
                <c:pt idx="2">
                  <c:v>CID2706299</c:v>
                </c:pt>
                <c:pt idx="3">
                  <c:v>CID7828101</c:v>
                </c:pt>
                <c:pt idx="4">
                  <c:v>CID2674107</c:v>
                </c:pt>
              </c:strCache>
            </c:strRef>
          </c:cat>
          <c:val>
            <c:numRef>
              <c:f>Sheet1!$B$2:$B$6</c:f>
              <c:numCache>
                <c:formatCode>General</c:formatCode>
                <c:ptCount val="5"/>
                <c:pt idx="0">
                  <c:v>4220</c:v>
                </c:pt>
                <c:pt idx="1">
                  <c:v>4228</c:v>
                </c:pt>
                <c:pt idx="2">
                  <c:v>4277</c:v>
                </c:pt>
                <c:pt idx="3">
                  <c:v>4722</c:v>
                </c:pt>
                <c:pt idx="4">
                  <c:v>4987</c:v>
                </c:pt>
              </c:numCache>
            </c:numRef>
          </c:val>
          <c:extLst>
            <c:ext xmlns:c16="http://schemas.microsoft.com/office/drawing/2014/chart" uri="{C3380CC4-5D6E-409C-BE32-E72D297353CC}">
              <c16:uniqueId val="{00000000-3755-48A4-8F50-84BA9CD23A9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56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Completed rides</c:v>
                </c:pt>
              </c:strCache>
            </c:strRef>
          </c:tx>
          <c:spPr>
            <a:solidFill>
              <a:srgbClr val="4A3AA7"/>
            </a:solidFill>
            <a:effectLst/>
          </c:spPr>
          <c:invertIfNegative val="0"/>
          <c:dLbls>
            <c:numFmt formatCode="#,##0" sourceLinked="0"/>
            <c:spPr>
              <a:noFill/>
              <a:ln>
                <a:noFill/>
              </a:ln>
              <a:effectLst/>
            </c:spPr>
            <c:txPr>
              <a:bodyPr/>
              <a:lstStyle/>
              <a:p>
                <a:pPr>
                  <a:defRPr sz="95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0–5 km</c:v>
                </c:pt>
                <c:pt idx="1">
                  <c:v>5–10 km</c:v>
                </c:pt>
                <c:pt idx="2">
                  <c:v>10–20 km</c:v>
                </c:pt>
                <c:pt idx="3">
                  <c:v>20–30 km</c:v>
                </c:pt>
                <c:pt idx="4">
                  <c:v>30–40 km</c:v>
                </c:pt>
                <c:pt idx="5">
                  <c:v>40–50 km</c:v>
                </c:pt>
              </c:strCache>
            </c:strRef>
          </c:cat>
          <c:val>
            <c:numRef>
              <c:f>Sheet1!$B$2:$B$7</c:f>
              <c:numCache>
                <c:formatCode>General</c:formatCode>
                <c:ptCount val="6"/>
                <c:pt idx="0">
                  <c:v>5786</c:v>
                </c:pt>
                <c:pt idx="1">
                  <c:v>9738</c:v>
                </c:pt>
                <c:pt idx="2">
                  <c:v>19220</c:v>
                </c:pt>
                <c:pt idx="3">
                  <c:v>19508</c:v>
                </c:pt>
                <c:pt idx="4">
                  <c:v>19500</c:v>
                </c:pt>
                <c:pt idx="5">
                  <c:v>19248</c:v>
                </c:pt>
              </c:numCache>
            </c:numRef>
          </c:val>
          <c:extLst>
            <c:ext xmlns:c16="http://schemas.microsoft.com/office/drawing/2014/chart" uri="{C3380CC4-5D6E-409C-BE32-E72D297353CC}">
              <c16:uniqueId val="{00000000-0259-4DAC-AB6E-67FA4ADBACE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6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Customer cancellation reason</c:v>
                </c:pt>
              </c:strCache>
            </c:strRef>
          </c:tx>
          <c:spPr>
            <a:solidFill>
              <a:schemeClr val="accent1"/>
            </a:solidFill>
            <a:ln w="9525" cap="flat">
              <a:solidFill>
                <a:srgbClr val="F9F9F9"/>
              </a:solidFill>
              <a:prstDash val="solid"/>
              <a:round/>
            </a:ln>
            <a:effectLst/>
          </c:spPr>
          <c:dPt>
            <c:idx val="0"/>
            <c:bubble3D val="0"/>
            <c:spPr>
              <a:solidFill>
                <a:srgbClr val="2A78D6"/>
              </a:solidFill>
              <a:effectLst/>
            </c:spPr>
            <c:extLst>
              <c:ext xmlns:c16="http://schemas.microsoft.com/office/drawing/2014/chart" uri="{C3380CC4-5D6E-409C-BE32-E72D297353CC}">
                <c16:uniqueId val="{00000001-662E-4687-BF29-5B6535353945}"/>
              </c:ext>
            </c:extLst>
          </c:dPt>
          <c:dPt>
            <c:idx val="1"/>
            <c:bubble3D val="0"/>
            <c:spPr>
              <a:solidFill>
                <a:srgbClr val="EDA100"/>
              </a:solidFill>
              <a:effectLst/>
            </c:spPr>
            <c:extLst>
              <c:ext xmlns:c16="http://schemas.microsoft.com/office/drawing/2014/chart" uri="{C3380CC4-5D6E-409C-BE32-E72D297353CC}">
                <c16:uniqueId val="{00000003-662E-4687-BF29-5B6535353945}"/>
              </c:ext>
            </c:extLst>
          </c:dPt>
          <c:dPt>
            <c:idx val="2"/>
            <c:bubble3D val="0"/>
            <c:spPr>
              <a:solidFill>
                <a:srgbClr val="E87BA4"/>
              </a:solidFill>
              <a:effectLst/>
            </c:spPr>
            <c:extLst>
              <c:ext xmlns:c16="http://schemas.microsoft.com/office/drawing/2014/chart" uri="{C3380CC4-5D6E-409C-BE32-E72D297353CC}">
                <c16:uniqueId val="{00000005-662E-4687-BF29-5B6535353945}"/>
              </c:ext>
            </c:extLst>
          </c:dPt>
          <c:dPt>
            <c:idx val="3"/>
            <c:bubble3D val="0"/>
            <c:spPr>
              <a:solidFill>
                <a:srgbClr val="008300"/>
              </a:solidFill>
              <a:effectLst/>
            </c:spPr>
            <c:extLst>
              <c:ext xmlns:c16="http://schemas.microsoft.com/office/drawing/2014/chart" uri="{C3380CC4-5D6E-409C-BE32-E72D297353CC}">
                <c16:uniqueId val="{00000007-662E-4687-BF29-5B6535353945}"/>
              </c:ext>
            </c:extLst>
          </c:dPt>
          <c:dPt>
            <c:idx val="4"/>
            <c:bubble3D val="0"/>
            <c:spPr>
              <a:solidFill>
                <a:srgbClr val="4A3AA7"/>
              </a:solidFill>
              <a:effectLst/>
            </c:spPr>
            <c:extLst>
              <c:ext xmlns:c16="http://schemas.microsoft.com/office/drawing/2014/chart" uri="{C3380CC4-5D6E-409C-BE32-E72D297353CC}">
                <c16:uniqueId val="{00000009-662E-4687-BF29-5B6535353945}"/>
              </c:ext>
            </c:extLst>
          </c:dPt>
          <c:dLbls>
            <c:dLbl>
              <c:idx val="0"/>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62E-4687-BF29-5B6535353945}"/>
                </c:ext>
              </c:extLst>
            </c:dLbl>
            <c:dLbl>
              <c:idx val="1"/>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62E-4687-BF29-5B6535353945}"/>
                </c:ext>
              </c:extLst>
            </c:dLbl>
            <c:dLbl>
              <c:idx val="2"/>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62E-4687-BF29-5B6535353945}"/>
                </c:ext>
              </c:extLst>
            </c:dLbl>
            <c:dLbl>
              <c:idx val="3"/>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62E-4687-BF29-5B6535353945}"/>
                </c:ext>
              </c:extLst>
            </c:dLbl>
            <c:dLbl>
              <c:idx val="4"/>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662E-4687-BF29-5B653535394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Wrong address</c:v>
                </c:pt>
                <c:pt idx="1">
                  <c:v>Change of plans</c:v>
                </c:pt>
                <c:pt idx="2">
                  <c:v>Driver not moving to pickup</c:v>
                </c:pt>
                <c:pt idx="3">
                  <c:v>Driver asked to cancel</c:v>
                </c:pt>
                <c:pt idx="4">
                  <c:v>AC not working</c:v>
                </c:pt>
              </c:strCache>
            </c:strRef>
          </c:cat>
          <c:val>
            <c:numRef>
              <c:f>Sheet1!$B$2:$B$6</c:f>
              <c:numCache>
                <c:formatCode>General</c:formatCode>
                <c:ptCount val="5"/>
                <c:pt idx="0">
                  <c:v>2362</c:v>
                </c:pt>
                <c:pt idx="1">
                  <c:v>2353</c:v>
                </c:pt>
                <c:pt idx="2">
                  <c:v>2335</c:v>
                </c:pt>
                <c:pt idx="3">
                  <c:v>2295</c:v>
                </c:pt>
                <c:pt idx="4">
                  <c:v>1155</c:v>
                </c:pt>
              </c:numCache>
            </c:numRef>
          </c:val>
          <c:extLst>
            <c:ext xmlns:c16="http://schemas.microsoft.com/office/drawing/2014/chart" uri="{C3380CC4-5D6E-409C-BE32-E72D297353CC}">
              <c16:uniqueId val="{0000000A-662E-4687-BF29-5B6535353945}"/>
            </c:ext>
          </c:extLst>
        </c:ser>
        <c:dLbls>
          <c:showLegendKey val="0"/>
          <c:showVal val="0"/>
          <c:showCatName val="0"/>
          <c:showSerName val="0"/>
          <c:showPercent val="0"/>
          <c:showBubbleSize val="0"/>
          <c:showLeaderLines val="0"/>
        </c:dLbls>
        <c:firstSliceAng val="0"/>
      </c:pieChart>
      <c:spPr>
        <a:solidFill>
          <a:srgbClr val="FFFFFF"/>
        </a:solidFill>
        <a:ln>
          <a:noFill/>
        </a:ln>
        <a:effectLst/>
      </c:spPr>
    </c:plotArea>
    <c:legend>
      <c:legendPos val="b"/>
      <c:overlay val="0"/>
      <c:txPr>
        <a:bodyPr/>
        <a:lstStyle/>
        <a:p>
          <a:pPr>
            <a:defRPr sz="900">
              <a:solidFill>
                <a:srgbClr val="5B5670"/>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Driver cancellation reason</c:v>
                </c:pt>
              </c:strCache>
            </c:strRef>
          </c:tx>
          <c:spPr>
            <a:solidFill>
              <a:schemeClr val="accent1"/>
            </a:solidFill>
            <a:ln w="9525" cap="flat">
              <a:solidFill>
                <a:srgbClr val="F9F9F9"/>
              </a:solidFill>
              <a:prstDash val="solid"/>
              <a:round/>
            </a:ln>
            <a:effectLst/>
          </c:spPr>
          <c:dPt>
            <c:idx val="0"/>
            <c:bubble3D val="0"/>
            <c:spPr>
              <a:solidFill>
                <a:srgbClr val="EDA100"/>
              </a:solidFill>
              <a:effectLst/>
            </c:spPr>
            <c:extLst>
              <c:ext xmlns:c16="http://schemas.microsoft.com/office/drawing/2014/chart" uri="{C3380CC4-5D6E-409C-BE32-E72D297353CC}">
                <c16:uniqueId val="{00000001-D55E-4651-ADBA-2107DFDD58C9}"/>
              </c:ext>
            </c:extLst>
          </c:dPt>
          <c:dPt>
            <c:idx val="1"/>
            <c:bubble3D val="0"/>
            <c:spPr>
              <a:solidFill>
                <a:srgbClr val="E87BA4"/>
              </a:solidFill>
              <a:effectLst/>
            </c:spPr>
            <c:extLst>
              <c:ext xmlns:c16="http://schemas.microsoft.com/office/drawing/2014/chart" uri="{C3380CC4-5D6E-409C-BE32-E72D297353CC}">
                <c16:uniqueId val="{00000003-D55E-4651-ADBA-2107DFDD58C9}"/>
              </c:ext>
            </c:extLst>
          </c:dPt>
          <c:dPt>
            <c:idx val="2"/>
            <c:bubble3D val="0"/>
            <c:spPr>
              <a:solidFill>
                <a:srgbClr val="008300"/>
              </a:solidFill>
              <a:effectLst/>
            </c:spPr>
            <c:extLst>
              <c:ext xmlns:c16="http://schemas.microsoft.com/office/drawing/2014/chart" uri="{C3380CC4-5D6E-409C-BE32-E72D297353CC}">
                <c16:uniqueId val="{00000005-D55E-4651-ADBA-2107DFDD58C9}"/>
              </c:ext>
            </c:extLst>
          </c:dPt>
          <c:dPt>
            <c:idx val="3"/>
            <c:bubble3D val="0"/>
            <c:spPr>
              <a:solidFill>
                <a:srgbClr val="4A3AA7"/>
              </a:solidFill>
              <a:effectLst/>
            </c:spPr>
            <c:extLst>
              <c:ext xmlns:c16="http://schemas.microsoft.com/office/drawing/2014/chart" uri="{C3380CC4-5D6E-409C-BE32-E72D297353CC}">
                <c16:uniqueId val="{00000007-D55E-4651-ADBA-2107DFDD58C9}"/>
              </c:ext>
            </c:extLst>
          </c:dPt>
          <c:dLbls>
            <c:dLbl>
              <c:idx val="0"/>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55E-4651-ADBA-2107DFDD58C9}"/>
                </c:ext>
              </c:extLst>
            </c:dLbl>
            <c:dLbl>
              <c:idx val="1"/>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55E-4651-ADBA-2107DFDD58C9}"/>
                </c:ext>
              </c:extLst>
            </c:dLbl>
            <c:dLbl>
              <c:idx val="2"/>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55E-4651-ADBA-2107DFDD58C9}"/>
                </c:ext>
              </c:extLst>
            </c:dLbl>
            <c:dLbl>
              <c:idx val="3"/>
              <c:numFmt formatCode="0%" sourceLinked="0"/>
              <c:spPr/>
              <c:txPr>
                <a:bodyPr/>
                <a:lstStyle/>
                <a:p>
                  <a:pPr>
                    <a:defRPr sz="1000" b="0" i="0" u="none" strike="noStrike">
                      <a:solidFill>
                        <a:srgbClr val="1A1A1A"/>
                      </a:solidFill>
                      <a:latin typeface="Calibri"/>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55E-4651-ADBA-2107DFDD58C9}"/>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Customer related issue</c:v>
                </c:pt>
                <c:pt idx="1">
                  <c:v>Customer was coughing/sick</c:v>
                </c:pt>
                <c:pt idx="2">
                  <c:v>Personal &amp; car related</c:v>
                </c:pt>
                <c:pt idx="3">
                  <c:v>More than permitted people</c:v>
                </c:pt>
              </c:strCache>
            </c:strRef>
          </c:cat>
          <c:val>
            <c:numRef>
              <c:f>Sheet1!$B$2:$B$5</c:f>
              <c:numCache>
                <c:formatCode>General</c:formatCode>
                <c:ptCount val="4"/>
                <c:pt idx="0">
                  <c:v>6837</c:v>
                </c:pt>
                <c:pt idx="1">
                  <c:v>6751</c:v>
                </c:pt>
                <c:pt idx="2">
                  <c:v>6726</c:v>
                </c:pt>
                <c:pt idx="3">
                  <c:v>6686</c:v>
                </c:pt>
              </c:numCache>
            </c:numRef>
          </c:val>
          <c:extLst>
            <c:ext xmlns:c16="http://schemas.microsoft.com/office/drawing/2014/chart" uri="{C3380CC4-5D6E-409C-BE32-E72D297353CC}">
              <c16:uniqueId val="{00000008-D55E-4651-ADBA-2107DFDD58C9}"/>
            </c:ext>
          </c:extLst>
        </c:ser>
        <c:dLbls>
          <c:showLegendKey val="0"/>
          <c:showVal val="0"/>
          <c:showCatName val="0"/>
          <c:showSerName val="0"/>
          <c:showPercent val="0"/>
          <c:showBubbleSize val="0"/>
          <c:showLeaderLines val="0"/>
        </c:dLbls>
        <c:firstSliceAng val="0"/>
      </c:pieChart>
      <c:spPr>
        <a:solidFill>
          <a:srgbClr val="FFFFFF"/>
        </a:solidFill>
        <a:ln>
          <a:noFill/>
        </a:ln>
        <a:effectLst/>
      </c:spPr>
    </c:plotArea>
    <c:legend>
      <c:legendPos val="b"/>
      <c:overlay val="0"/>
      <c:txPr>
        <a:bodyPr/>
        <a:lstStyle/>
        <a:p>
          <a:pPr>
            <a:defRPr sz="900">
              <a:solidFill>
                <a:srgbClr val="5B5670"/>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Driver rating</c:v>
                </c:pt>
              </c:strCache>
            </c:strRef>
          </c:tx>
          <c:spPr>
            <a:solidFill>
              <a:srgbClr val="4A3AA7"/>
            </a:solidFill>
            <a:effectLst/>
          </c:spPr>
          <c:invertIfNegative val="0"/>
          <c:dLbls>
            <c:numFmt formatCode="0.0&quot;%&quot;" sourceLinked="0"/>
            <c:spPr>
              <a:noFill/>
              <a:ln>
                <a:noFill/>
              </a:ln>
              <a:effectLst/>
            </c:spPr>
            <c:txPr>
              <a:bodyPr/>
              <a:lstStyle/>
              <a:p>
                <a:pPr>
                  <a:defRPr sz="10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 ★</c:v>
                </c:pt>
                <c:pt idx="1">
                  <c:v>4 ★</c:v>
                </c:pt>
                <c:pt idx="2">
                  <c:v>5 ★</c:v>
                </c:pt>
              </c:strCache>
            </c:strRef>
          </c:cat>
          <c:val>
            <c:numRef>
              <c:f>Sheet1!$B$2:$B$4</c:f>
              <c:numCache>
                <c:formatCode>General</c:formatCode>
                <c:ptCount val="3"/>
                <c:pt idx="0">
                  <c:v>22.6</c:v>
                </c:pt>
                <c:pt idx="1">
                  <c:v>74.900000000000006</c:v>
                </c:pt>
                <c:pt idx="2">
                  <c:v>2.5</c:v>
                </c:pt>
              </c:numCache>
            </c:numRef>
          </c:val>
          <c:extLst>
            <c:ext xmlns:c16="http://schemas.microsoft.com/office/drawing/2014/chart" uri="{C3380CC4-5D6E-409C-BE32-E72D297353CC}">
              <c16:uniqueId val="{00000000-CABB-4739-8D09-685C820B8019}"/>
            </c:ext>
          </c:extLst>
        </c:ser>
        <c:ser>
          <c:idx val="1"/>
          <c:order val="1"/>
          <c:tx>
            <c:strRef>
              <c:f>Sheet1!$C$1</c:f>
              <c:strCache>
                <c:ptCount val="1"/>
                <c:pt idx="0">
                  <c:v>Customer rating</c:v>
                </c:pt>
              </c:strCache>
            </c:strRef>
          </c:tx>
          <c:spPr>
            <a:solidFill>
              <a:srgbClr val="EB6834"/>
            </a:solidFill>
            <a:effectLst/>
          </c:spPr>
          <c:invertIfNegative val="0"/>
          <c:dLbls>
            <c:numFmt formatCode="0.0&quot;%&quot;" sourceLinked="0"/>
            <c:spPr>
              <a:noFill/>
              <a:ln>
                <a:noFill/>
              </a:ln>
              <a:effectLst/>
            </c:spPr>
            <c:txPr>
              <a:bodyPr/>
              <a:lstStyle/>
              <a:p>
                <a:pPr>
                  <a:defRPr sz="10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 ★</c:v>
                </c:pt>
                <c:pt idx="1">
                  <c:v>4 ★</c:v>
                </c:pt>
                <c:pt idx="2">
                  <c:v>5 ★</c:v>
                </c:pt>
              </c:strCache>
            </c:strRef>
          </c:cat>
          <c:val>
            <c:numRef>
              <c:f>Sheet1!$C$2:$C$4</c:f>
              <c:numCache>
                <c:formatCode>General</c:formatCode>
                <c:ptCount val="3"/>
                <c:pt idx="0">
                  <c:v>13.9</c:v>
                </c:pt>
                <c:pt idx="1">
                  <c:v>79.8</c:v>
                </c:pt>
                <c:pt idx="2">
                  <c:v>6.3</c:v>
                </c:pt>
              </c:numCache>
            </c:numRef>
          </c:val>
          <c:extLst>
            <c:ext xmlns:c16="http://schemas.microsoft.com/office/drawing/2014/chart" uri="{C3380CC4-5D6E-409C-BE32-E72D297353CC}">
              <c16:uniqueId val="{00000001-CABB-4739-8D09-685C820B801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6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legend>
      <c:legendPos val="t"/>
      <c:overlay val="0"/>
      <c:txPr>
        <a:bodyPr/>
        <a:lstStyle/>
        <a:p>
          <a:pPr>
            <a:defRPr sz="1000">
              <a:solidFill>
                <a:srgbClr val="5B5670"/>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401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review covers the full year of NCR ride bookings. The headline tension is that demand is healthy and stable, but only 62% of it converts into a completed ride.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headline finding: people are booking rides steadily, but only 62% of those bookings turn into a completed ride. That gap costs an estimated ₹24.4M/year in lost revenue. The bigger surprise: it's not customers cancelling — it's driver-side problems (drivers cancelling or none being available) that cause most of the loss. Demand itself is very stable month to month, and almost nobody re-books (nearly every customer only rides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Conversion gap:</a:t>
            </a:r>
            <a:r>
              <a:rPr lang="en-GB" sz="1200" b="0" i="0" kern="1200" dirty="0">
                <a:solidFill>
                  <a:schemeClr val="tx1"/>
                </a:solidFill>
                <a:effectLst/>
                <a:latin typeface="+mn-lt"/>
                <a:ea typeface="+mn-ea"/>
                <a:cs typeface="+mn-cs"/>
              </a:rPr>
              <a:t> Digs into why only 62% of rides complete. Compares driver-caused failures (25%) vs customer-caused cancellations (7%) — drivers are the bigger problem, and this doesn't change month to month, so it's a systemic issue, not a one-off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Five vehicle types (like Auto, Sedan, Bike) account for 90% of all distance driven. But every vehicle type has almost the same completion/failure rate — so the problem isn't "one bad vehicle category," it's platform-wide.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75% of revenue already comes through digital payments (UPI, cards, wallets), with UPI alone driving 45%. But 25% (₹12.9M) still comes in as cash, which is harder to track and riskier to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Even the "top spender" customers only rode 1-3 times all year. Out of 148,788 customers, less than 1% ever booked twice. This is a acquisition-only business right now — nobody is coming back for repeat rides, though rides tend to be long (~26km) and reasonably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Breaks down why rides get cancelled. A big finding: many cancellations </a:t>
            </a:r>
            <a:r>
              <a:rPr lang="en-GB" sz="1200" b="0" i="1" kern="1200" dirty="0">
                <a:solidFill>
                  <a:schemeClr val="tx1"/>
                </a:solidFill>
                <a:effectLst/>
                <a:latin typeface="+mn-lt"/>
                <a:ea typeface="+mn-ea"/>
                <a:cs typeface="+mn-cs"/>
              </a:rPr>
              <a:t>logged</a:t>
            </a:r>
            <a:r>
              <a:rPr lang="en-GB" sz="1200" b="0" i="0" kern="1200" dirty="0">
                <a:solidFill>
                  <a:schemeClr val="tx1"/>
                </a:solidFill>
                <a:effectLst/>
                <a:latin typeface="+mn-lt"/>
                <a:ea typeface="+mn-ea"/>
                <a:cs typeface="+mn-cs"/>
              </a:rPr>
              <a:t> as "customer cancelled" are actually because drivers weren't showing up or asked the customer to cancel — so the real driver-caused failure rate is even higher than official numbers suggest (28% of all bookings, once you count this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Funnel counts: 150,000 booked, less 10,500 with no driver found = 139,500 assigned; less 37,500 cancellations = 102,000 started; less 9,000 incomplete = 93,000 completed.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 looks healthy until you see the distribution — nine times more 3-star rides than 5-star. That is a coaching and incentive design problem.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matters: recommendation 1 is the precondition for 2. Recommendation 3 is the long-term compounding play.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140">
            <a:alpha val="100000"/>
          </a:srgbClr>
        </a:solidFill>
        <a:effectLst/>
      </p:bgPr>
    </p:bg>
    <p:spTree>
      <p:nvGrpSpPr>
        <p:cNvPr id="1" name=""/>
        <p:cNvGrpSpPr/>
        <p:nvPr/>
      </p:nvGrpSpPr>
      <p:grpSpPr>
        <a:xfrm>
          <a:off x="0" y="0"/>
          <a:ext cx="0" cy="0"/>
          <a:chOff x="0" y="0"/>
          <a:chExt cx="0" cy="0"/>
        </a:xfrm>
      </p:grpSpPr>
      <p:sp>
        <p:nvSpPr>
          <p:cNvPr id="2" name="Shape 0"/>
          <p:cNvSpPr/>
          <p:nvPr/>
        </p:nvSpPr>
        <p:spPr>
          <a:xfrm>
            <a:off x="8597900" y="-1549400"/>
            <a:ext cx="5664200" cy="5664200"/>
          </a:xfrm>
          <a:prstGeom prst="ellipse">
            <a:avLst/>
          </a:prstGeom>
          <a:solidFill>
            <a:srgbClr val="2E2160"/>
          </a:solidFill>
          <a:ln>
            <a:noFill/>
          </a:ln>
        </p:spPr>
        <p:txBody>
          <a:bodyPr/>
          <a:lstStyle/>
          <a:p>
            <a:endParaRPr/>
          </a:p>
        </p:txBody>
      </p:sp>
      <p:sp>
        <p:nvSpPr>
          <p:cNvPr id="3" name="Shape 1"/>
          <p:cNvSpPr/>
          <p:nvPr/>
        </p:nvSpPr>
        <p:spPr>
          <a:xfrm>
            <a:off x="10147300" y="3937000"/>
            <a:ext cx="3111500" cy="3111500"/>
          </a:xfrm>
          <a:prstGeom prst="ellipse">
            <a:avLst/>
          </a:prstGeom>
          <a:solidFill>
            <a:srgbClr val="241862"/>
          </a:solidFill>
          <a:ln>
            <a:noFill/>
          </a:ln>
        </p:spPr>
        <p:txBody>
          <a:bodyPr/>
          <a:lstStyle/>
          <a:p>
            <a:endParaRPr/>
          </a:p>
        </p:txBody>
      </p:sp>
      <p:sp>
        <p:nvSpPr>
          <p:cNvPr id="4" name="Text 2"/>
          <p:cNvSpPr txBox="1"/>
          <p:nvPr/>
        </p:nvSpPr>
        <p:spPr>
          <a:xfrm>
            <a:off x="825500" y="1320800"/>
            <a:ext cx="7315200" cy="184666"/>
          </a:xfrm>
          <a:prstGeom prst="rect">
            <a:avLst/>
          </a:prstGeom>
          <a:noFill/>
        </p:spPr>
        <p:txBody>
          <a:bodyPr wrap="square" lIns="0" tIns="0" rIns="0" bIns="0" anchor="t">
            <a:spAutoFit/>
          </a:bodyPr>
          <a:lstStyle/>
          <a:p>
            <a:pPr marL="0" indent="0">
              <a:buNone/>
            </a:pPr>
            <a:r>
              <a:rPr lang="en-US" sz="1200" b="1" kern="0" spc="300" dirty="0">
                <a:solidFill>
                  <a:srgbClr val="EDA100"/>
                </a:solidFill>
                <a:latin typeface="Calibri" pitchFamily="34" charset="0"/>
                <a:cs typeface="Calibri" pitchFamily="34" charset="-120"/>
              </a:rPr>
              <a:t>DATA ANALYTICS PORTFOLIO PROJECT</a:t>
            </a:r>
          </a:p>
        </p:txBody>
      </p:sp>
      <p:sp>
        <p:nvSpPr>
          <p:cNvPr id="5" name="Shape 3"/>
          <p:cNvSpPr/>
          <p:nvPr/>
        </p:nvSpPr>
        <p:spPr>
          <a:xfrm>
            <a:off x="825500" y="1778000"/>
            <a:ext cx="812800" cy="50800"/>
          </a:xfrm>
          <a:prstGeom prst="rect">
            <a:avLst/>
          </a:prstGeom>
          <a:solidFill>
            <a:srgbClr val="EDA100"/>
          </a:solidFill>
          <a:ln>
            <a:noFill/>
          </a:ln>
        </p:spPr>
        <p:txBody>
          <a:bodyPr/>
          <a:lstStyle/>
          <a:p>
            <a:endParaRPr/>
          </a:p>
        </p:txBody>
      </p:sp>
      <p:sp>
        <p:nvSpPr>
          <p:cNvPr id="6" name="Text 4"/>
          <p:cNvSpPr txBox="1"/>
          <p:nvPr/>
        </p:nvSpPr>
        <p:spPr>
          <a:xfrm>
            <a:off x="825500" y="2082800"/>
            <a:ext cx="7874000" cy="1661993"/>
          </a:xfrm>
          <a:prstGeom prst="rect">
            <a:avLst/>
          </a:prstGeom>
          <a:noFill/>
        </p:spPr>
        <p:txBody>
          <a:bodyPr wrap="square" lIns="0" tIns="0" rIns="0" bIns="0" anchor="t">
            <a:spAutoFit/>
          </a:bodyPr>
          <a:lstStyle/>
          <a:p>
            <a:pPr marL="0" indent="0">
              <a:buNone/>
            </a:pPr>
            <a:r>
              <a:rPr lang="en-US" sz="5400" b="1" dirty="0">
                <a:solidFill>
                  <a:srgbClr val="FFFFFF"/>
                </a:solidFill>
                <a:latin typeface="Cambria" pitchFamily="34" charset="0"/>
                <a:cs typeface="Cambria" pitchFamily="34" charset="-120"/>
              </a:rPr>
              <a:t>NCR Ride Booking Analytics</a:t>
            </a:r>
          </a:p>
        </p:txBody>
      </p:sp>
      <p:sp>
        <p:nvSpPr>
          <p:cNvPr id="7" name="Text 5"/>
          <p:cNvSpPr txBox="1"/>
          <p:nvPr/>
        </p:nvSpPr>
        <p:spPr>
          <a:xfrm>
            <a:off x="825500" y="4064000"/>
            <a:ext cx="7620000" cy="666849"/>
          </a:xfrm>
          <a:prstGeom prst="rect">
            <a:avLst/>
          </a:prstGeom>
          <a:noFill/>
        </p:spPr>
        <p:txBody>
          <a:bodyPr wrap="square" lIns="0" tIns="0" rIns="0" bIns="0" anchor="t">
            <a:spAutoFit/>
          </a:bodyPr>
          <a:lstStyle/>
          <a:p>
            <a:pPr marL="0" indent="0">
              <a:lnSpc>
                <a:spcPct val="125000"/>
              </a:lnSpc>
              <a:buNone/>
            </a:pPr>
            <a:r>
              <a:rPr lang="en-US" sz="1800" dirty="0">
                <a:solidFill>
                  <a:srgbClr val="C9C2E8"/>
                </a:solidFill>
                <a:latin typeface="Calibri" pitchFamily="34" charset="0"/>
                <a:cs typeface="Calibri" pitchFamily="34" charset="-120"/>
              </a:rPr>
              <a:t>Turning 150,000 Delhi NCR bookings into decisions on demand, conversion, revenue and service quality</a:t>
            </a:r>
          </a:p>
        </p:txBody>
      </p:sp>
      <p:sp>
        <p:nvSpPr>
          <p:cNvPr id="8" name="Shape 6"/>
          <p:cNvSpPr/>
          <p:nvPr/>
        </p:nvSpPr>
        <p:spPr>
          <a:xfrm>
            <a:off x="825500" y="5232400"/>
            <a:ext cx="5334000" cy="12700"/>
          </a:xfrm>
          <a:prstGeom prst="rect">
            <a:avLst/>
          </a:prstGeom>
          <a:solidFill>
            <a:srgbClr val="4A3AA7"/>
          </a:solidFill>
          <a:ln>
            <a:noFill/>
          </a:ln>
        </p:spPr>
        <p:txBody>
          <a:bodyPr/>
          <a:lstStyle/>
          <a:p>
            <a:endParaRPr/>
          </a:p>
        </p:txBody>
      </p:sp>
      <p:sp>
        <p:nvSpPr>
          <p:cNvPr id="9" name="Text 7"/>
          <p:cNvSpPr txBox="1"/>
          <p:nvPr/>
        </p:nvSpPr>
        <p:spPr>
          <a:xfrm>
            <a:off x="825500" y="5486400"/>
            <a:ext cx="6604000" cy="338554"/>
          </a:xfrm>
          <a:prstGeom prst="rect">
            <a:avLst/>
          </a:prstGeom>
          <a:noFill/>
        </p:spPr>
        <p:txBody>
          <a:bodyPr wrap="square" lIns="0" tIns="0" rIns="0" bIns="0" anchor="t">
            <a:spAutoFit/>
          </a:bodyPr>
          <a:lstStyle/>
          <a:p>
            <a:pPr marL="0" indent="0">
              <a:buNone/>
            </a:pPr>
            <a:r>
              <a:rPr lang="en-US" sz="2200" b="1" dirty="0">
                <a:solidFill>
                  <a:srgbClr val="FFFFFF"/>
                </a:solidFill>
                <a:latin typeface="Calibri" pitchFamily="34" charset="0"/>
                <a:cs typeface="Calibri" pitchFamily="34" charset="-120"/>
              </a:rPr>
              <a:t>Antony S Chirayil</a:t>
            </a:r>
          </a:p>
        </p:txBody>
      </p:sp>
      <p:sp>
        <p:nvSpPr>
          <p:cNvPr id="10" name="Text 8"/>
          <p:cNvSpPr txBox="1"/>
          <p:nvPr/>
        </p:nvSpPr>
        <p:spPr>
          <a:xfrm>
            <a:off x="825500" y="5969000"/>
            <a:ext cx="6604000" cy="215444"/>
          </a:xfrm>
          <a:prstGeom prst="rect">
            <a:avLst/>
          </a:prstGeom>
          <a:noFill/>
        </p:spPr>
        <p:txBody>
          <a:bodyPr wrap="square" lIns="0" tIns="0" rIns="0" bIns="0" anchor="t">
            <a:spAutoFit/>
          </a:bodyPr>
          <a:lstStyle/>
          <a:p>
            <a:pPr marL="0" indent="0">
              <a:buNone/>
            </a:pPr>
            <a:r>
              <a:rPr lang="en-US" sz="1400" dirty="0">
                <a:solidFill>
                  <a:srgbClr val="8F87B8"/>
                </a:solidFill>
                <a:latin typeface="Calibri" pitchFamily="34" charset="0"/>
                <a:cs typeface="Calibri" pitchFamily="34" charset="-120"/>
              </a:rPr>
              <a:t>Data Analysis  ·  Power BI  ·  End-to-end dashboard build</a:t>
            </a:r>
          </a:p>
        </p:txBody>
      </p:sp>
    </p:spTree>
    <p:extLst>
      <p:ext uri="{BB962C8B-B14F-4D97-AF65-F5344CB8AC3E}">
        <p14:creationId xmlns:p14="http://schemas.microsoft.com/office/powerpoint/2010/main" val="25629979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B1140"/>
        </a:solidFill>
        <a:effectLst/>
      </p:bgPr>
    </p:bg>
    <p:spTree>
      <p:nvGrpSpPr>
        <p:cNvPr id="1" name=""/>
        <p:cNvGrpSpPr/>
        <p:nvPr/>
      </p:nvGrpSpPr>
      <p:grpSpPr>
        <a:xfrm>
          <a:off x="0" y="0"/>
          <a:ext cx="0" cy="0"/>
          <a:chOff x="0" y="0"/>
          <a:chExt cx="0" cy="0"/>
        </a:xfrm>
      </p:grpSpPr>
      <p:sp>
        <p:nvSpPr>
          <p:cNvPr id="2" name="Shape 0"/>
          <p:cNvSpPr/>
          <p:nvPr/>
        </p:nvSpPr>
        <p:spPr>
          <a:xfrm>
            <a:off x="8595360" y="-1554480"/>
            <a:ext cx="5669280" cy="5669280"/>
          </a:xfrm>
          <a:prstGeom prst="ellipse">
            <a:avLst/>
          </a:prstGeom>
          <a:solidFill>
            <a:srgbClr val="2E2160"/>
          </a:solidFill>
          <a:ln w="12700">
            <a:solidFill>
              <a:srgbClr val="2E2160"/>
            </a:solidFill>
            <a:prstDash val="solid"/>
          </a:ln>
        </p:spPr>
      </p:sp>
      <p:sp>
        <p:nvSpPr>
          <p:cNvPr id="3" name="Shape 1"/>
          <p:cNvSpPr/>
          <p:nvPr/>
        </p:nvSpPr>
        <p:spPr>
          <a:xfrm>
            <a:off x="10149840" y="3931920"/>
            <a:ext cx="3108960" cy="3108960"/>
          </a:xfrm>
          <a:prstGeom prst="ellipse">
            <a:avLst/>
          </a:prstGeom>
          <a:solidFill>
            <a:srgbClr val="241862"/>
          </a:solidFill>
          <a:ln w="12700">
            <a:solidFill>
              <a:srgbClr val="241862"/>
            </a:solidFill>
            <a:prstDash val="solid"/>
          </a:ln>
        </p:spPr>
      </p:sp>
      <p:sp>
        <p:nvSpPr>
          <p:cNvPr id="4" name="Text 2"/>
          <p:cNvSpPr txBox="1"/>
          <p:nvPr/>
        </p:nvSpPr>
        <p:spPr>
          <a:xfrm>
            <a:off x="822960" y="1417320"/>
            <a:ext cx="7315200" cy="274320"/>
          </a:xfrm>
          <a:prstGeom prst="rect">
            <a:avLst/>
          </a:prstGeom>
          <a:noFill/>
          <a:ln/>
        </p:spPr>
        <p:txBody>
          <a:bodyPr wrap="square" lIns="0" tIns="0" rIns="0" bIns="0" rtlCol="0" anchor="ctr"/>
          <a:lstStyle/>
          <a:p>
            <a:pPr marL="0" indent="0">
              <a:buNone/>
            </a:pPr>
            <a:r>
              <a:rPr lang="en-US" sz="1200" b="1" kern="0" spc="300" dirty="0">
                <a:solidFill>
                  <a:srgbClr val="EDA100"/>
                </a:solidFill>
                <a:latin typeface="Calibri" pitchFamily="34" charset="0"/>
                <a:ea typeface="Calibri" pitchFamily="34" charset="-122"/>
                <a:cs typeface="Calibri" pitchFamily="34" charset="-120"/>
              </a:rPr>
              <a:t>EXECUTIVE ANALYTICS REVIEW</a:t>
            </a:r>
            <a:endParaRPr lang="en-US" sz="1200" dirty="0"/>
          </a:p>
        </p:txBody>
      </p:sp>
      <p:sp>
        <p:nvSpPr>
          <p:cNvPr id="5" name="Text 3"/>
          <p:cNvSpPr txBox="1"/>
          <p:nvPr/>
        </p:nvSpPr>
        <p:spPr>
          <a:xfrm>
            <a:off x="822960" y="1828800"/>
            <a:ext cx="8229600" cy="8686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NCR Ride Booking</a:t>
            </a:r>
            <a:endParaRPr lang="en-US" sz="5400" dirty="0"/>
          </a:p>
        </p:txBody>
      </p:sp>
      <p:sp>
        <p:nvSpPr>
          <p:cNvPr id="6" name="Text 4"/>
          <p:cNvSpPr txBox="1"/>
          <p:nvPr/>
        </p:nvSpPr>
        <p:spPr>
          <a:xfrm>
            <a:off x="822960" y="2788920"/>
            <a:ext cx="7498080" cy="822960"/>
          </a:xfrm>
          <a:prstGeom prst="rect">
            <a:avLst/>
          </a:prstGeom>
          <a:noFill/>
          <a:ln/>
        </p:spPr>
        <p:txBody>
          <a:bodyPr wrap="square" lIns="0" tIns="0" rIns="0" bIns="0" rtlCol="0" anchor="ctr"/>
          <a:lstStyle/>
          <a:p>
            <a:pPr marL="0" indent="0">
              <a:lnSpc>
                <a:spcPct val="125000"/>
              </a:lnSpc>
              <a:buNone/>
            </a:pPr>
            <a:r>
              <a:rPr lang="en-US" sz="1600" dirty="0">
                <a:solidFill>
                  <a:srgbClr val="C9C2E8"/>
                </a:solidFill>
                <a:latin typeface="Calibri" pitchFamily="34" charset="0"/>
                <a:ea typeface="Calibri" pitchFamily="34" charset="-122"/>
                <a:cs typeface="Calibri" pitchFamily="34" charset="-120"/>
              </a:rPr>
              <a:t>Demand, conversion, revenue and service quality</a:t>
            </a:r>
            <a:endParaRPr lang="en-US" sz="1600" dirty="0"/>
          </a:p>
          <a:p>
            <a:pPr marL="0" indent="0">
              <a:lnSpc>
                <a:spcPct val="125000"/>
              </a:lnSpc>
              <a:buNone/>
            </a:pPr>
            <a:r>
              <a:rPr lang="en-US" sz="1600" dirty="0">
                <a:solidFill>
                  <a:srgbClr val="C9C2E8"/>
                </a:solidFill>
                <a:latin typeface="Calibri" pitchFamily="34" charset="0"/>
                <a:ea typeface="Calibri" pitchFamily="34" charset="-122"/>
                <a:cs typeface="Calibri" pitchFamily="34" charset="-120"/>
              </a:rPr>
              <a:t>across 150,000 bookings in Delhi NCR</a:t>
            </a:r>
            <a:endParaRPr lang="en-US" sz="1600" dirty="0"/>
          </a:p>
        </p:txBody>
      </p:sp>
      <p:sp>
        <p:nvSpPr>
          <p:cNvPr id="7" name="Text 5"/>
          <p:cNvSpPr txBox="1"/>
          <p:nvPr/>
        </p:nvSpPr>
        <p:spPr>
          <a:xfrm>
            <a:off x="822960" y="4160520"/>
            <a:ext cx="2377440" cy="411480"/>
          </a:xfrm>
          <a:prstGeom prst="rect">
            <a:avLst/>
          </a:prstGeom>
          <a:noFill/>
          <a:ln/>
        </p:spPr>
        <p:txBody>
          <a:bodyPr wrap="square" lIns="0" tIns="0" rIns="0" bIns="0" rtlCol="0" anchor="ctr"/>
          <a:lstStyle/>
          <a:p>
            <a:pPr marL="0" indent="0">
              <a:buNone/>
            </a:pPr>
            <a:r>
              <a:rPr lang="en-US" sz="2400" b="1" dirty="0">
                <a:solidFill>
                  <a:srgbClr val="EDA100"/>
                </a:solidFill>
                <a:latin typeface="Cambria" pitchFamily="34" charset="0"/>
                <a:ea typeface="Cambria" pitchFamily="34" charset="-122"/>
                <a:cs typeface="Cambria" pitchFamily="34" charset="-120"/>
              </a:rPr>
              <a:t>150,000</a:t>
            </a:r>
            <a:endParaRPr lang="en-US" sz="2400" dirty="0"/>
          </a:p>
        </p:txBody>
      </p:sp>
      <p:sp>
        <p:nvSpPr>
          <p:cNvPr id="8" name="Text 6"/>
          <p:cNvSpPr txBox="1"/>
          <p:nvPr/>
        </p:nvSpPr>
        <p:spPr>
          <a:xfrm>
            <a:off x="822960" y="4590288"/>
            <a:ext cx="2377440" cy="274320"/>
          </a:xfrm>
          <a:prstGeom prst="rect">
            <a:avLst/>
          </a:prstGeom>
          <a:noFill/>
          <a:ln/>
        </p:spPr>
        <p:txBody>
          <a:bodyPr wrap="square" lIns="0" tIns="0" rIns="0" bIns="0" rtlCol="0" anchor="ctr"/>
          <a:lstStyle/>
          <a:p>
            <a:pPr marL="0" indent="0">
              <a:buNone/>
            </a:pPr>
            <a:r>
              <a:rPr lang="en-US" sz="1100" dirty="0">
                <a:solidFill>
                  <a:srgbClr val="C9C2E8"/>
                </a:solidFill>
                <a:latin typeface="Calibri" pitchFamily="34" charset="0"/>
                <a:ea typeface="Calibri" pitchFamily="34" charset="-122"/>
                <a:cs typeface="Calibri" pitchFamily="34" charset="-120"/>
              </a:rPr>
              <a:t>Bookings analysed</a:t>
            </a:r>
            <a:endParaRPr lang="en-US" sz="1100" dirty="0"/>
          </a:p>
        </p:txBody>
      </p:sp>
      <p:sp>
        <p:nvSpPr>
          <p:cNvPr id="9" name="Text 7"/>
          <p:cNvSpPr txBox="1"/>
          <p:nvPr/>
        </p:nvSpPr>
        <p:spPr>
          <a:xfrm>
            <a:off x="3429000" y="4160520"/>
            <a:ext cx="2377440" cy="411480"/>
          </a:xfrm>
          <a:prstGeom prst="rect">
            <a:avLst/>
          </a:prstGeom>
          <a:noFill/>
          <a:ln/>
        </p:spPr>
        <p:txBody>
          <a:bodyPr wrap="square" lIns="0" tIns="0" rIns="0" bIns="0" rtlCol="0" anchor="ctr"/>
          <a:lstStyle/>
          <a:p>
            <a:pPr marL="0" indent="0">
              <a:buNone/>
            </a:pPr>
            <a:r>
              <a:rPr lang="en-US" sz="2400" b="1" dirty="0">
                <a:solidFill>
                  <a:srgbClr val="EDA100"/>
                </a:solidFill>
                <a:latin typeface="Cambria" pitchFamily="34" charset="0"/>
                <a:ea typeface="Cambria" pitchFamily="34" charset="-122"/>
                <a:cs typeface="Cambria" pitchFamily="34" charset="-120"/>
              </a:rPr>
              <a:t>62.0%</a:t>
            </a:r>
            <a:endParaRPr lang="en-US" sz="2400" dirty="0"/>
          </a:p>
        </p:txBody>
      </p:sp>
      <p:sp>
        <p:nvSpPr>
          <p:cNvPr id="10" name="Text 8"/>
          <p:cNvSpPr txBox="1"/>
          <p:nvPr/>
        </p:nvSpPr>
        <p:spPr>
          <a:xfrm>
            <a:off x="3429000" y="4590288"/>
            <a:ext cx="2377440" cy="274320"/>
          </a:xfrm>
          <a:prstGeom prst="rect">
            <a:avLst/>
          </a:prstGeom>
          <a:noFill/>
          <a:ln/>
        </p:spPr>
        <p:txBody>
          <a:bodyPr wrap="square" lIns="0" tIns="0" rIns="0" bIns="0" rtlCol="0" anchor="ctr"/>
          <a:lstStyle/>
          <a:p>
            <a:pPr marL="0" indent="0">
              <a:buNone/>
            </a:pPr>
            <a:r>
              <a:rPr lang="en-US" sz="1100" dirty="0">
                <a:solidFill>
                  <a:srgbClr val="C9C2E8"/>
                </a:solidFill>
                <a:latin typeface="Calibri" pitchFamily="34" charset="0"/>
                <a:ea typeface="Calibri" pitchFamily="34" charset="-122"/>
                <a:cs typeface="Calibri" pitchFamily="34" charset="-120"/>
              </a:rPr>
              <a:t>Completion rate</a:t>
            </a:r>
            <a:endParaRPr lang="en-US" sz="1100" dirty="0"/>
          </a:p>
        </p:txBody>
      </p:sp>
      <p:sp>
        <p:nvSpPr>
          <p:cNvPr id="11" name="Text 9"/>
          <p:cNvSpPr txBox="1"/>
          <p:nvPr/>
        </p:nvSpPr>
        <p:spPr>
          <a:xfrm>
            <a:off x="6035040" y="4160520"/>
            <a:ext cx="2377440" cy="411480"/>
          </a:xfrm>
          <a:prstGeom prst="rect">
            <a:avLst/>
          </a:prstGeom>
          <a:noFill/>
          <a:ln/>
        </p:spPr>
        <p:txBody>
          <a:bodyPr wrap="square" lIns="0" tIns="0" rIns="0" bIns="0" rtlCol="0" anchor="ctr"/>
          <a:lstStyle/>
          <a:p>
            <a:pPr marL="0" indent="0">
              <a:buNone/>
            </a:pPr>
            <a:r>
              <a:rPr lang="en-US" sz="2400" b="1" dirty="0">
                <a:solidFill>
                  <a:srgbClr val="EDA100"/>
                </a:solidFill>
                <a:latin typeface="Cambria" pitchFamily="34" charset="0"/>
                <a:ea typeface="Cambria" pitchFamily="34" charset="-122"/>
                <a:cs typeface="Cambria" pitchFamily="34" charset="-120"/>
              </a:rPr>
              <a:t>₹51.8M</a:t>
            </a:r>
            <a:endParaRPr lang="en-US" sz="2400" dirty="0"/>
          </a:p>
        </p:txBody>
      </p:sp>
      <p:sp>
        <p:nvSpPr>
          <p:cNvPr id="12" name="Text 10"/>
          <p:cNvSpPr txBox="1"/>
          <p:nvPr/>
        </p:nvSpPr>
        <p:spPr>
          <a:xfrm>
            <a:off x="6035040" y="4590288"/>
            <a:ext cx="2377440" cy="274320"/>
          </a:xfrm>
          <a:prstGeom prst="rect">
            <a:avLst/>
          </a:prstGeom>
          <a:noFill/>
          <a:ln/>
        </p:spPr>
        <p:txBody>
          <a:bodyPr wrap="square" lIns="0" tIns="0" rIns="0" bIns="0" rtlCol="0" anchor="ctr"/>
          <a:lstStyle/>
          <a:p>
            <a:pPr marL="0" indent="0">
              <a:buNone/>
            </a:pPr>
            <a:r>
              <a:rPr lang="en-US" sz="1100" dirty="0">
                <a:solidFill>
                  <a:srgbClr val="C9C2E8"/>
                </a:solidFill>
                <a:latin typeface="Calibri" pitchFamily="34" charset="0"/>
                <a:ea typeface="Calibri" pitchFamily="34" charset="-122"/>
                <a:cs typeface="Calibri" pitchFamily="34" charset="-120"/>
              </a:rPr>
              <a:t>Booking value</a:t>
            </a:r>
            <a:endParaRPr lang="en-US" sz="1100" dirty="0"/>
          </a:p>
        </p:txBody>
      </p:sp>
      <p:sp>
        <p:nvSpPr>
          <p:cNvPr id="13" name="Text 11"/>
          <p:cNvSpPr txBox="1"/>
          <p:nvPr/>
        </p:nvSpPr>
        <p:spPr>
          <a:xfrm>
            <a:off x="8641080" y="4160520"/>
            <a:ext cx="2377440" cy="411480"/>
          </a:xfrm>
          <a:prstGeom prst="rect">
            <a:avLst/>
          </a:prstGeom>
          <a:noFill/>
          <a:ln/>
        </p:spPr>
        <p:txBody>
          <a:bodyPr wrap="square" lIns="0" tIns="0" rIns="0" bIns="0" rtlCol="0" anchor="ctr"/>
          <a:lstStyle/>
          <a:p>
            <a:pPr marL="0" indent="0">
              <a:buNone/>
            </a:pPr>
            <a:r>
              <a:rPr lang="en-US" sz="2400" b="1" dirty="0">
                <a:solidFill>
                  <a:srgbClr val="EDA100"/>
                </a:solidFill>
                <a:latin typeface="Cambria" pitchFamily="34" charset="0"/>
                <a:ea typeface="Cambria" pitchFamily="34" charset="-122"/>
                <a:cs typeface="Cambria" pitchFamily="34" charset="-120"/>
              </a:rPr>
              <a:t>4.23 / 4.40</a:t>
            </a:r>
            <a:endParaRPr lang="en-US" sz="2400" dirty="0"/>
          </a:p>
        </p:txBody>
      </p:sp>
      <p:sp>
        <p:nvSpPr>
          <p:cNvPr id="14" name="Text 12"/>
          <p:cNvSpPr txBox="1"/>
          <p:nvPr/>
        </p:nvSpPr>
        <p:spPr>
          <a:xfrm>
            <a:off x="8641080" y="4590288"/>
            <a:ext cx="2377440" cy="274320"/>
          </a:xfrm>
          <a:prstGeom prst="rect">
            <a:avLst/>
          </a:prstGeom>
          <a:noFill/>
          <a:ln/>
        </p:spPr>
        <p:txBody>
          <a:bodyPr wrap="square" lIns="0" tIns="0" rIns="0" bIns="0" rtlCol="0" anchor="ctr"/>
          <a:lstStyle/>
          <a:p>
            <a:pPr marL="0" indent="0">
              <a:buNone/>
            </a:pPr>
            <a:r>
              <a:rPr lang="en-US" sz="1100" dirty="0">
                <a:solidFill>
                  <a:srgbClr val="C9C2E8"/>
                </a:solidFill>
                <a:latin typeface="Calibri" pitchFamily="34" charset="0"/>
                <a:ea typeface="Calibri" pitchFamily="34" charset="-122"/>
                <a:cs typeface="Calibri" pitchFamily="34" charset="-120"/>
              </a:rPr>
              <a:t>Driver / customer rating</a:t>
            </a:r>
            <a:endParaRPr lang="en-US" sz="1100" dirty="0"/>
          </a:p>
        </p:txBody>
      </p:sp>
      <p:sp>
        <p:nvSpPr>
          <p:cNvPr id="15" name="Text 13"/>
          <p:cNvSpPr txBox="1"/>
          <p:nvPr/>
        </p:nvSpPr>
        <p:spPr>
          <a:xfrm>
            <a:off x="822960" y="5806440"/>
            <a:ext cx="10058400" cy="274320"/>
          </a:xfrm>
          <a:prstGeom prst="rect">
            <a:avLst/>
          </a:prstGeom>
          <a:noFill/>
          <a:ln/>
        </p:spPr>
        <p:txBody>
          <a:bodyPr wrap="square" lIns="0" tIns="0" rIns="0" bIns="0" rtlCol="0" anchor="ctr"/>
          <a:lstStyle/>
          <a:p>
            <a:pPr marL="0" indent="0">
              <a:buNone/>
            </a:pPr>
            <a:r>
              <a:rPr lang="en-US" sz="1000" dirty="0">
                <a:solidFill>
                  <a:srgbClr val="8F87B8"/>
                </a:solidFill>
                <a:latin typeface="Calibri" pitchFamily="34" charset="0"/>
                <a:ea typeface="Calibri" pitchFamily="34" charset="-122"/>
                <a:cs typeface="Calibri" pitchFamily="34" charset="-120"/>
              </a:rPr>
              <a:t>Prepared from ncr_ride_bookings.csv  ·  1 Jan – 30 Dec 2024  ·  All figures computed from the full 150,000-row dataset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ext 3"/>
          <p:cNvSpPr txBox="1"/>
          <p:nvPr/>
        </p:nvSpPr>
        <p:spPr>
          <a:xfrm>
            <a:off x="508000" y="304800"/>
            <a:ext cx="7315200" cy="215900"/>
          </a:xfrm>
          <a:prstGeom prst="rect">
            <a:avLst/>
          </a:prstGeom>
          <a:noFill/>
        </p:spPr>
        <p:txBody>
          <a:bodyPr wrap="square" lIns="0" tIns="0" rIns="0" bIns="0" anchor="t">
            <a:spAutoFit/>
          </a:bodyPr>
          <a:lstStyle/>
          <a:p>
            <a:pPr marL="0" indent="0">
              <a:buNone/>
            </a:pPr>
            <a:r>
              <a:rPr lang="en-US" sz="1200" b="1" kern="0" spc="300" dirty="0">
                <a:solidFill>
                  <a:srgbClr val="EDA100"/>
                </a:solidFill>
                <a:latin typeface="Calibri" pitchFamily="34" charset="0"/>
                <a:cs typeface="Calibri" pitchFamily="34" charset="-120"/>
              </a:rPr>
              <a:t>APPROACH &amp; METHODOLOGY</a:t>
            </a:r>
          </a:p>
        </p:txBody>
      </p:sp>
      <p:sp>
        <p:nvSpPr>
          <p:cNvPr id="3" name="Text 4"/>
          <p:cNvSpPr txBox="1"/>
          <p:nvPr/>
        </p:nvSpPr>
        <p:spPr>
          <a:xfrm>
            <a:off x="508000" y="571500"/>
            <a:ext cx="11176000" cy="508000"/>
          </a:xfrm>
          <a:prstGeom prst="rect">
            <a:avLst/>
          </a:prstGeom>
          <a:noFill/>
        </p:spPr>
        <p:txBody>
          <a:bodyPr wrap="square" lIns="0" tIns="0" rIns="0" bIns="0" anchor="t">
            <a:spAutoFit/>
          </a:bodyPr>
          <a:lstStyle/>
          <a:p>
            <a:pPr marL="0" indent="0">
              <a:buNone/>
            </a:pPr>
            <a:r>
              <a:rPr lang="en-US" sz="2600" b="1" dirty="0">
                <a:solidFill>
                  <a:srgbClr val="1B1140"/>
                </a:solidFill>
                <a:latin typeface="Calibri" pitchFamily="34" charset="0"/>
                <a:cs typeface="Calibri" pitchFamily="34" charset="-120"/>
              </a:rPr>
              <a:t>What we did: from raw CSV to a live Power BI dashboard</a:t>
            </a:r>
          </a:p>
        </p:txBody>
      </p:sp>
      <p:sp>
        <p:nvSpPr>
          <p:cNvPr id="4" name="Shape 5"/>
          <p:cNvSpPr/>
          <p:nvPr/>
        </p:nvSpPr>
        <p:spPr>
          <a:xfrm>
            <a:off x="508000" y="1168400"/>
            <a:ext cx="812800" cy="38100"/>
          </a:xfrm>
          <a:prstGeom prst="rect">
            <a:avLst/>
          </a:prstGeom>
          <a:solidFill>
            <a:srgbClr val="EDA100"/>
          </a:solidFill>
          <a:ln>
            <a:noFill/>
          </a:ln>
        </p:spPr>
        <p:txBody>
          <a:bodyPr wrap="none" lIns="0" tIns="0" rIns="0" bIns="0" anchor="ctr"/>
          <a:lstStyle/>
          <a:p>
            <a:endParaRPr/>
          </a:p>
        </p:txBody>
      </p:sp>
      <p:sp>
        <p:nvSpPr>
          <p:cNvPr id="5" name="Shape 6"/>
          <p:cNvSpPr/>
          <p:nvPr/>
        </p:nvSpPr>
        <p:spPr>
          <a:xfrm>
            <a:off x="508000" y="1422400"/>
            <a:ext cx="3556000" cy="2159000"/>
          </a:xfrm>
          <a:prstGeom prst="roundRect">
            <a:avLst/>
          </a:prstGeom>
          <a:solidFill>
            <a:srgbClr val="F4F2FC"/>
          </a:solidFill>
          <a:ln>
            <a:noFill/>
          </a:ln>
        </p:spPr>
        <p:txBody>
          <a:bodyPr wrap="none" lIns="0" tIns="0" rIns="0" bIns="0" anchor="ctr"/>
          <a:lstStyle/>
          <a:p>
            <a:endParaRPr/>
          </a:p>
        </p:txBody>
      </p:sp>
      <p:sp>
        <p:nvSpPr>
          <p:cNvPr id="6" name="Shape 7"/>
          <p:cNvSpPr/>
          <p:nvPr/>
        </p:nvSpPr>
        <p:spPr>
          <a:xfrm>
            <a:off x="711200" y="1625600"/>
            <a:ext cx="330200" cy="330200"/>
          </a:xfrm>
          <a:prstGeom prst="ellipse">
            <a:avLst/>
          </a:prstGeom>
          <a:solidFill>
            <a:srgbClr val="4A3AA7"/>
          </a:solidFill>
          <a:ln>
            <a:noFill/>
          </a:ln>
        </p:spPr>
        <p:txBody>
          <a:bodyPr wrap="none" lIns="0" tIns="0" rIns="0" bIns="0" anchor="ctr"/>
          <a:lstStyle/>
          <a:p>
            <a:pPr marL="0" indent="0" algn="ctr">
              <a:buNone/>
            </a:pPr>
            <a:r>
              <a:rPr lang="en-US" sz="1200" b="1" dirty="0">
                <a:solidFill>
                  <a:srgbClr val="FFFFFF"/>
                </a:solidFill>
                <a:latin typeface="Calibri" pitchFamily="34" charset="0"/>
                <a:cs typeface="Calibri" pitchFamily="34" charset="-120"/>
              </a:rPr>
              <a:t>01</a:t>
            </a:r>
          </a:p>
        </p:txBody>
      </p:sp>
      <p:sp>
        <p:nvSpPr>
          <p:cNvPr id="7" name="Text 8"/>
          <p:cNvSpPr txBox="1"/>
          <p:nvPr/>
        </p:nvSpPr>
        <p:spPr>
          <a:xfrm>
            <a:off x="1168400" y="1689100"/>
            <a:ext cx="2692400" cy="304800"/>
          </a:xfrm>
          <a:prstGeom prst="rect">
            <a:avLst/>
          </a:prstGeom>
          <a:noFill/>
        </p:spPr>
        <p:txBody>
          <a:bodyPr wrap="square" lIns="0" tIns="0" rIns="0" bIns="0" anchor="t">
            <a:spAutoFit/>
          </a:bodyPr>
          <a:lstStyle/>
          <a:p>
            <a:pPr marL="0" indent="0">
              <a:buNone/>
            </a:pPr>
            <a:r>
              <a:rPr lang="en-US" sz="1600" b="1" dirty="0">
                <a:solidFill>
                  <a:srgbClr val="1B1140"/>
                </a:solidFill>
                <a:latin typeface="Calibri" pitchFamily="34" charset="0"/>
                <a:cs typeface="Calibri" pitchFamily="34" charset="-120"/>
              </a:rPr>
              <a:t>Data sourcing</a:t>
            </a:r>
          </a:p>
        </p:txBody>
      </p:sp>
      <p:sp>
        <p:nvSpPr>
          <p:cNvPr id="8" name="Text 9"/>
          <p:cNvSpPr txBox="1"/>
          <p:nvPr/>
        </p:nvSpPr>
        <p:spPr>
          <a:xfrm>
            <a:off x="711200" y="2159000"/>
            <a:ext cx="3149600" cy="1270000"/>
          </a:xfrm>
          <a:prstGeom prst="rect">
            <a:avLst/>
          </a:prstGeom>
          <a:noFill/>
        </p:spPr>
        <p:txBody>
          <a:bodyPr wrap="square" lIns="0" tIns="0" rIns="0" bIns="0" anchor="t">
            <a:spAutoFit/>
          </a:bodyPr>
          <a:lstStyle/>
          <a:p>
            <a:pPr marL="0" indent="0">
              <a:lnSpc>
                <a:spcPct val="120000"/>
              </a:lnSpc>
              <a:buNone/>
            </a:pPr>
            <a:r>
              <a:rPr lang="en-US" sz="1300" dirty="0">
                <a:solidFill>
                  <a:srgbClr val="4A4270"/>
                </a:solidFill>
                <a:latin typeface="Calibri" pitchFamily="34" charset="0"/>
                <a:cs typeface="Calibri" pitchFamily="34" charset="-120"/>
              </a:rPr>
              <a:t>Loaded ncr_ride_bookings.csv (150,000 rows, 1 Jan – 30 Dec 2024) into Power BI via Power Query.</a:t>
            </a:r>
          </a:p>
        </p:txBody>
      </p:sp>
      <p:sp>
        <p:nvSpPr>
          <p:cNvPr id="9" name="Shape 10"/>
          <p:cNvSpPr/>
          <p:nvPr/>
        </p:nvSpPr>
        <p:spPr>
          <a:xfrm>
            <a:off x="4318000" y="1422400"/>
            <a:ext cx="3556000" cy="2159000"/>
          </a:xfrm>
          <a:prstGeom prst="roundRect">
            <a:avLst/>
          </a:prstGeom>
          <a:solidFill>
            <a:srgbClr val="F4F2FC"/>
          </a:solidFill>
          <a:ln>
            <a:noFill/>
          </a:ln>
        </p:spPr>
        <p:txBody>
          <a:bodyPr wrap="none" lIns="0" tIns="0" rIns="0" bIns="0" anchor="ctr"/>
          <a:lstStyle/>
          <a:p>
            <a:endParaRPr/>
          </a:p>
        </p:txBody>
      </p:sp>
      <p:sp>
        <p:nvSpPr>
          <p:cNvPr id="10" name="Shape 11"/>
          <p:cNvSpPr/>
          <p:nvPr/>
        </p:nvSpPr>
        <p:spPr>
          <a:xfrm>
            <a:off x="4521200" y="1625600"/>
            <a:ext cx="330200" cy="330200"/>
          </a:xfrm>
          <a:prstGeom prst="ellipse">
            <a:avLst/>
          </a:prstGeom>
          <a:solidFill>
            <a:srgbClr val="4A3AA7"/>
          </a:solidFill>
          <a:ln>
            <a:noFill/>
          </a:ln>
        </p:spPr>
        <p:txBody>
          <a:bodyPr wrap="none" lIns="0" tIns="0" rIns="0" bIns="0" anchor="ctr"/>
          <a:lstStyle/>
          <a:p>
            <a:pPr marL="0" indent="0" algn="ctr">
              <a:buNone/>
            </a:pPr>
            <a:r>
              <a:rPr lang="en-US" sz="1200" b="1" dirty="0">
                <a:solidFill>
                  <a:srgbClr val="FFFFFF"/>
                </a:solidFill>
                <a:latin typeface="Calibri" pitchFamily="34" charset="0"/>
                <a:cs typeface="Calibri" pitchFamily="34" charset="-120"/>
              </a:rPr>
              <a:t>02</a:t>
            </a:r>
          </a:p>
        </p:txBody>
      </p:sp>
      <p:sp>
        <p:nvSpPr>
          <p:cNvPr id="11" name="Text 12"/>
          <p:cNvSpPr txBox="1"/>
          <p:nvPr/>
        </p:nvSpPr>
        <p:spPr>
          <a:xfrm>
            <a:off x="4978400" y="1689100"/>
            <a:ext cx="2692400" cy="304800"/>
          </a:xfrm>
          <a:prstGeom prst="rect">
            <a:avLst/>
          </a:prstGeom>
          <a:noFill/>
        </p:spPr>
        <p:txBody>
          <a:bodyPr wrap="square" lIns="0" tIns="0" rIns="0" bIns="0" anchor="t">
            <a:spAutoFit/>
          </a:bodyPr>
          <a:lstStyle/>
          <a:p>
            <a:pPr marL="0" indent="0">
              <a:buNone/>
            </a:pPr>
            <a:r>
              <a:rPr lang="en-US" sz="1600" b="1" dirty="0">
                <a:solidFill>
                  <a:srgbClr val="1B1140"/>
                </a:solidFill>
                <a:latin typeface="Calibri" pitchFamily="34" charset="0"/>
                <a:cs typeface="Calibri" pitchFamily="34" charset="-120"/>
              </a:rPr>
              <a:t>Cleaning</a:t>
            </a:r>
          </a:p>
        </p:txBody>
      </p:sp>
      <p:sp>
        <p:nvSpPr>
          <p:cNvPr id="12" name="Text 13"/>
          <p:cNvSpPr txBox="1"/>
          <p:nvPr/>
        </p:nvSpPr>
        <p:spPr>
          <a:xfrm>
            <a:off x="4521200" y="2159000"/>
            <a:ext cx="3149600" cy="1270000"/>
          </a:xfrm>
          <a:prstGeom prst="rect">
            <a:avLst/>
          </a:prstGeom>
          <a:noFill/>
        </p:spPr>
        <p:txBody>
          <a:bodyPr wrap="square" lIns="0" tIns="0" rIns="0" bIns="0" anchor="t">
            <a:spAutoFit/>
          </a:bodyPr>
          <a:lstStyle/>
          <a:p>
            <a:pPr marL="0" indent="0">
              <a:lnSpc>
                <a:spcPct val="120000"/>
              </a:lnSpc>
              <a:buNone/>
            </a:pPr>
            <a:r>
              <a:rPr lang="en-US" sz="1300" dirty="0">
                <a:solidFill>
                  <a:srgbClr val="4A4270"/>
                </a:solidFill>
                <a:latin typeface="Calibri" pitchFamily="34" charset="0"/>
                <a:cs typeface="Calibri" pitchFamily="34" charset="-120"/>
              </a:rPr>
              <a:t>Fixed data types, trimmed booking and customer IDs, standardised vehicle and payment labels, treated blanks in ratings, distance and value.</a:t>
            </a:r>
          </a:p>
        </p:txBody>
      </p:sp>
      <p:sp>
        <p:nvSpPr>
          <p:cNvPr id="13" name="Shape 14"/>
          <p:cNvSpPr/>
          <p:nvPr/>
        </p:nvSpPr>
        <p:spPr>
          <a:xfrm>
            <a:off x="8128000" y="1422400"/>
            <a:ext cx="3556000" cy="2159000"/>
          </a:xfrm>
          <a:prstGeom prst="roundRect">
            <a:avLst/>
          </a:prstGeom>
          <a:solidFill>
            <a:srgbClr val="F4F2FC"/>
          </a:solidFill>
          <a:ln>
            <a:noFill/>
          </a:ln>
        </p:spPr>
        <p:txBody>
          <a:bodyPr wrap="none" lIns="0" tIns="0" rIns="0" bIns="0" anchor="ctr"/>
          <a:lstStyle/>
          <a:p>
            <a:endParaRPr/>
          </a:p>
        </p:txBody>
      </p:sp>
      <p:sp>
        <p:nvSpPr>
          <p:cNvPr id="14" name="Shape 15"/>
          <p:cNvSpPr/>
          <p:nvPr/>
        </p:nvSpPr>
        <p:spPr>
          <a:xfrm>
            <a:off x="8331200" y="1625600"/>
            <a:ext cx="330200" cy="330200"/>
          </a:xfrm>
          <a:prstGeom prst="ellipse">
            <a:avLst/>
          </a:prstGeom>
          <a:solidFill>
            <a:srgbClr val="4A3AA7"/>
          </a:solidFill>
          <a:ln>
            <a:noFill/>
          </a:ln>
        </p:spPr>
        <p:txBody>
          <a:bodyPr wrap="none" lIns="0" tIns="0" rIns="0" bIns="0" anchor="ctr"/>
          <a:lstStyle/>
          <a:p>
            <a:pPr marL="0" indent="0" algn="ctr">
              <a:buNone/>
            </a:pPr>
            <a:r>
              <a:rPr lang="en-US" sz="1200" b="1" dirty="0">
                <a:solidFill>
                  <a:srgbClr val="FFFFFF"/>
                </a:solidFill>
                <a:latin typeface="Calibri" pitchFamily="34" charset="0"/>
                <a:cs typeface="Calibri" pitchFamily="34" charset="-120"/>
              </a:rPr>
              <a:t>03</a:t>
            </a:r>
          </a:p>
        </p:txBody>
      </p:sp>
      <p:sp>
        <p:nvSpPr>
          <p:cNvPr id="15" name="Text 16"/>
          <p:cNvSpPr txBox="1"/>
          <p:nvPr/>
        </p:nvSpPr>
        <p:spPr>
          <a:xfrm>
            <a:off x="8788400" y="1689100"/>
            <a:ext cx="2692400" cy="304800"/>
          </a:xfrm>
          <a:prstGeom prst="rect">
            <a:avLst/>
          </a:prstGeom>
          <a:noFill/>
        </p:spPr>
        <p:txBody>
          <a:bodyPr wrap="square" lIns="0" tIns="0" rIns="0" bIns="0" anchor="t">
            <a:spAutoFit/>
          </a:bodyPr>
          <a:lstStyle/>
          <a:p>
            <a:pPr marL="0" indent="0">
              <a:buNone/>
            </a:pPr>
            <a:r>
              <a:rPr lang="en-US" sz="1600" b="1" dirty="0">
                <a:solidFill>
                  <a:srgbClr val="1B1140"/>
                </a:solidFill>
                <a:latin typeface="Calibri" pitchFamily="34" charset="0"/>
                <a:cs typeface="Calibri" pitchFamily="34" charset="-120"/>
              </a:rPr>
              <a:t>Transformation</a:t>
            </a:r>
          </a:p>
        </p:txBody>
      </p:sp>
      <p:sp>
        <p:nvSpPr>
          <p:cNvPr id="16" name="Text 17"/>
          <p:cNvSpPr txBox="1"/>
          <p:nvPr/>
        </p:nvSpPr>
        <p:spPr>
          <a:xfrm>
            <a:off x="8331200" y="2159000"/>
            <a:ext cx="3149600" cy="1270000"/>
          </a:xfrm>
          <a:prstGeom prst="rect">
            <a:avLst/>
          </a:prstGeom>
          <a:noFill/>
        </p:spPr>
        <p:txBody>
          <a:bodyPr wrap="square" lIns="0" tIns="0" rIns="0" bIns="0" anchor="t">
            <a:spAutoFit/>
          </a:bodyPr>
          <a:lstStyle/>
          <a:p>
            <a:pPr marL="0" indent="0">
              <a:lnSpc>
                <a:spcPct val="120000"/>
              </a:lnSpc>
              <a:buNone/>
            </a:pPr>
            <a:r>
              <a:rPr lang="en-US" sz="1300" dirty="0">
                <a:solidFill>
                  <a:srgbClr val="4A4270"/>
                </a:solidFill>
                <a:latin typeface="Calibri" pitchFamily="34" charset="0"/>
                <a:cs typeface="Calibri" pitchFamily="34" charset="-120"/>
              </a:rPr>
              <a:t>Split booking date and time, derived hour, weekday and month, grouped cancellation reasons and flagged completed, cancelled and incomplete rides.</a:t>
            </a:r>
          </a:p>
        </p:txBody>
      </p:sp>
      <p:sp>
        <p:nvSpPr>
          <p:cNvPr id="17" name="Shape 18"/>
          <p:cNvSpPr/>
          <p:nvPr/>
        </p:nvSpPr>
        <p:spPr>
          <a:xfrm>
            <a:off x="508000" y="3810000"/>
            <a:ext cx="3556000" cy="2159000"/>
          </a:xfrm>
          <a:prstGeom prst="roundRect">
            <a:avLst/>
          </a:prstGeom>
          <a:solidFill>
            <a:srgbClr val="F4F2FC"/>
          </a:solidFill>
          <a:ln>
            <a:noFill/>
          </a:ln>
        </p:spPr>
        <p:txBody>
          <a:bodyPr wrap="none" lIns="0" tIns="0" rIns="0" bIns="0" anchor="ctr"/>
          <a:lstStyle/>
          <a:p>
            <a:endParaRPr/>
          </a:p>
        </p:txBody>
      </p:sp>
      <p:sp>
        <p:nvSpPr>
          <p:cNvPr id="18" name="Shape 19"/>
          <p:cNvSpPr/>
          <p:nvPr/>
        </p:nvSpPr>
        <p:spPr>
          <a:xfrm>
            <a:off x="711200" y="4013200"/>
            <a:ext cx="330200" cy="330200"/>
          </a:xfrm>
          <a:prstGeom prst="ellipse">
            <a:avLst/>
          </a:prstGeom>
          <a:solidFill>
            <a:srgbClr val="4A3AA7"/>
          </a:solidFill>
          <a:ln>
            <a:noFill/>
          </a:ln>
        </p:spPr>
        <p:txBody>
          <a:bodyPr wrap="none" lIns="0" tIns="0" rIns="0" bIns="0" anchor="ctr"/>
          <a:lstStyle/>
          <a:p>
            <a:pPr marL="0" indent="0" algn="ctr">
              <a:buNone/>
            </a:pPr>
            <a:r>
              <a:rPr lang="en-US" sz="1200" b="1" dirty="0">
                <a:solidFill>
                  <a:srgbClr val="FFFFFF"/>
                </a:solidFill>
                <a:latin typeface="Calibri" pitchFamily="34" charset="0"/>
                <a:cs typeface="Calibri" pitchFamily="34" charset="-120"/>
              </a:rPr>
              <a:t>04</a:t>
            </a:r>
          </a:p>
        </p:txBody>
      </p:sp>
      <p:sp>
        <p:nvSpPr>
          <p:cNvPr id="19" name="Text 20"/>
          <p:cNvSpPr txBox="1"/>
          <p:nvPr/>
        </p:nvSpPr>
        <p:spPr>
          <a:xfrm>
            <a:off x="1168400" y="4076700"/>
            <a:ext cx="2692400" cy="304800"/>
          </a:xfrm>
          <a:prstGeom prst="rect">
            <a:avLst/>
          </a:prstGeom>
          <a:noFill/>
        </p:spPr>
        <p:txBody>
          <a:bodyPr wrap="square" lIns="0" tIns="0" rIns="0" bIns="0" anchor="t">
            <a:spAutoFit/>
          </a:bodyPr>
          <a:lstStyle/>
          <a:p>
            <a:pPr marL="0" indent="0">
              <a:buNone/>
            </a:pPr>
            <a:r>
              <a:rPr lang="en-US" sz="1600" b="1" dirty="0">
                <a:solidFill>
                  <a:srgbClr val="1B1140"/>
                </a:solidFill>
                <a:latin typeface="Calibri" pitchFamily="34" charset="0"/>
                <a:cs typeface="Calibri" pitchFamily="34" charset="-120"/>
              </a:rPr>
              <a:t>Data model</a:t>
            </a:r>
          </a:p>
        </p:txBody>
      </p:sp>
      <p:sp>
        <p:nvSpPr>
          <p:cNvPr id="20" name="Text 21"/>
          <p:cNvSpPr txBox="1"/>
          <p:nvPr/>
        </p:nvSpPr>
        <p:spPr>
          <a:xfrm>
            <a:off x="711200" y="4546600"/>
            <a:ext cx="3149600" cy="1270000"/>
          </a:xfrm>
          <a:prstGeom prst="rect">
            <a:avLst/>
          </a:prstGeom>
          <a:noFill/>
        </p:spPr>
        <p:txBody>
          <a:bodyPr wrap="square" lIns="0" tIns="0" rIns="0" bIns="0" anchor="t">
            <a:spAutoFit/>
          </a:bodyPr>
          <a:lstStyle/>
          <a:p>
            <a:pPr marL="0" indent="0">
              <a:lnSpc>
                <a:spcPct val="120000"/>
              </a:lnSpc>
              <a:buNone/>
            </a:pPr>
            <a:r>
              <a:rPr lang="en-US" sz="1300" dirty="0">
                <a:solidFill>
                  <a:srgbClr val="4A4270"/>
                </a:solidFill>
                <a:latin typeface="Calibri" pitchFamily="34" charset="0"/>
                <a:cs typeface="Calibri" pitchFamily="34" charset="-120"/>
              </a:rPr>
              <a:t>Star schema: bookings fact table linked to a marked Date table, plus vehicle and status lookups for clean cross-filtering.</a:t>
            </a:r>
          </a:p>
        </p:txBody>
      </p:sp>
      <p:sp>
        <p:nvSpPr>
          <p:cNvPr id="21" name="Shape 22"/>
          <p:cNvSpPr/>
          <p:nvPr/>
        </p:nvSpPr>
        <p:spPr>
          <a:xfrm>
            <a:off x="4318000" y="3810000"/>
            <a:ext cx="3556000" cy="2159000"/>
          </a:xfrm>
          <a:prstGeom prst="roundRect">
            <a:avLst/>
          </a:prstGeom>
          <a:solidFill>
            <a:srgbClr val="F4F2FC"/>
          </a:solidFill>
          <a:ln>
            <a:noFill/>
          </a:ln>
        </p:spPr>
        <p:txBody>
          <a:bodyPr wrap="none" lIns="0" tIns="0" rIns="0" bIns="0" anchor="ctr"/>
          <a:lstStyle/>
          <a:p>
            <a:endParaRPr/>
          </a:p>
        </p:txBody>
      </p:sp>
      <p:sp>
        <p:nvSpPr>
          <p:cNvPr id="22" name="Shape 23"/>
          <p:cNvSpPr/>
          <p:nvPr/>
        </p:nvSpPr>
        <p:spPr>
          <a:xfrm>
            <a:off x="4521200" y="4013200"/>
            <a:ext cx="330200" cy="330200"/>
          </a:xfrm>
          <a:prstGeom prst="ellipse">
            <a:avLst/>
          </a:prstGeom>
          <a:solidFill>
            <a:srgbClr val="4A3AA7"/>
          </a:solidFill>
          <a:ln>
            <a:noFill/>
          </a:ln>
        </p:spPr>
        <p:txBody>
          <a:bodyPr wrap="none" lIns="0" tIns="0" rIns="0" bIns="0" anchor="ctr"/>
          <a:lstStyle/>
          <a:p>
            <a:pPr marL="0" indent="0" algn="ctr">
              <a:buNone/>
            </a:pPr>
            <a:r>
              <a:rPr lang="en-US" sz="1200" b="1" dirty="0">
                <a:solidFill>
                  <a:srgbClr val="FFFFFF"/>
                </a:solidFill>
                <a:latin typeface="Calibri" pitchFamily="34" charset="0"/>
                <a:cs typeface="Calibri" pitchFamily="34" charset="-120"/>
              </a:rPr>
              <a:t>05</a:t>
            </a:r>
          </a:p>
        </p:txBody>
      </p:sp>
      <p:sp>
        <p:nvSpPr>
          <p:cNvPr id="23" name="Text 24"/>
          <p:cNvSpPr txBox="1"/>
          <p:nvPr/>
        </p:nvSpPr>
        <p:spPr>
          <a:xfrm>
            <a:off x="4978400" y="4076700"/>
            <a:ext cx="2692400" cy="304800"/>
          </a:xfrm>
          <a:prstGeom prst="rect">
            <a:avLst/>
          </a:prstGeom>
          <a:noFill/>
        </p:spPr>
        <p:txBody>
          <a:bodyPr wrap="square" lIns="0" tIns="0" rIns="0" bIns="0" anchor="t">
            <a:spAutoFit/>
          </a:bodyPr>
          <a:lstStyle/>
          <a:p>
            <a:pPr marL="0" indent="0">
              <a:buNone/>
            </a:pPr>
            <a:r>
              <a:rPr lang="en-US" sz="1600" b="1" dirty="0">
                <a:solidFill>
                  <a:srgbClr val="1B1140"/>
                </a:solidFill>
                <a:latin typeface="Calibri" pitchFamily="34" charset="0"/>
                <a:cs typeface="Calibri" pitchFamily="34" charset="-120"/>
              </a:rPr>
              <a:t>DAX measures</a:t>
            </a:r>
          </a:p>
        </p:txBody>
      </p:sp>
      <p:sp>
        <p:nvSpPr>
          <p:cNvPr id="24" name="Text 25"/>
          <p:cNvSpPr txBox="1"/>
          <p:nvPr/>
        </p:nvSpPr>
        <p:spPr>
          <a:xfrm>
            <a:off x="4521200" y="4546600"/>
            <a:ext cx="3149600" cy="1270000"/>
          </a:xfrm>
          <a:prstGeom prst="rect">
            <a:avLst/>
          </a:prstGeom>
          <a:noFill/>
        </p:spPr>
        <p:txBody>
          <a:bodyPr wrap="square" lIns="0" tIns="0" rIns="0" bIns="0" anchor="t">
            <a:spAutoFit/>
          </a:bodyPr>
          <a:lstStyle/>
          <a:p>
            <a:pPr marL="0" indent="0">
              <a:lnSpc>
                <a:spcPct val="120000"/>
              </a:lnSpc>
              <a:buNone/>
            </a:pPr>
            <a:r>
              <a:rPr lang="en-US" sz="1300" dirty="0">
                <a:solidFill>
                  <a:srgbClr val="4A4270"/>
                </a:solidFill>
                <a:latin typeface="Calibri" pitchFamily="34" charset="0"/>
                <a:cs typeface="Calibri" pitchFamily="34" charset="-120"/>
              </a:rPr>
              <a:t>Total bookings, completion and cancellation rates, booking value, average distance, driver and customer ratings, with month-on-month comparisons.</a:t>
            </a:r>
          </a:p>
        </p:txBody>
      </p:sp>
      <p:sp>
        <p:nvSpPr>
          <p:cNvPr id="25" name="Shape 26"/>
          <p:cNvSpPr/>
          <p:nvPr/>
        </p:nvSpPr>
        <p:spPr>
          <a:xfrm>
            <a:off x="8128000" y="3810000"/>
            <a:ext cx="3556000" cy="2159000"/>
          </a:xfrm>
          <a:prstGeom prst="roundRect">
            <a:avLst/>
          </a:prstGeom>
          <a:solidFill>
            <a:srgbClr val="F4F2FC"/>
          </a:solidFill>
          <a:ln>
            <a:noFill/>
          </a:ln>
        </p:spPr>
        <p:txBody>
          <a:bodyPr wrap="none" lIns="0" tIns="0" rIns="0" bIns="0" anchor="ctr"/>
          <a:lstStyle/>
          <a:p>
            <a:endParaRPr/>
          </a:p>
        </p:txBody>
      </p:sp>
      <p:sp>
        <p:nvSpPr>
          <p:cNvPr id="26" name="Shape 27"/>
          <p:cNvSpPr/>
          <p:nvPr/>
        </p:nvSpPr>
        <p:spPr>
          <a:xfrm>
            <a:off x="8331200" y="4013200"/>
            <a:ext cx="330200" cy="330200"/>
          </a:xfrm>
          <a:prstGeom prst="ellipse">
            <a:avLst/>
          </a:prstGeom>
          <a:solidFill>
            <a:srgbClr val="4A3AA7"/>
          </a:solidFill>
          <a:ln>
            <a:noFill/>
          </a:ln>
        </p:spPr>
        <p:txBody>
          <a:bodyPr wrap="none" lIns="0" tIns="0" rIns="0" bIns="0" anchor="ctr"/>
          <a:lstStyle/>
          <a:p>
            <a:pPr marL="0" indent="0" algn="ctr">
              <a:buNone/>
            </a:pPr>
            <a:r>
              <a:rPr lang="en-US" sz="1200" b="1" dirty="0">
                <a:solidFill>
                  <a:srgbClr val="FFFFFF"/>
                </a:solidFill>
                <a:latin typeface="Calibri" pitchFamily="34" charset="0"/>
                <a:cs typeface="Calibri" pitchFamily="34" charset="-120"/>
              </a:rPr>
              <a:t>06</a:t>
            </a:r>
          </a:p>
        </p:txBody>
      </p:sp>
      <p:sp>
        <p:nvSpPr>
          <p:cNvPr id="27" name="Text 28"/>
          <p:cNvSpPr txBox="1"/>
          <p:nvPr/>
        </p:nvSpPr>
        <p:spPr>
          <a:xfrm>
            <a:off x="8788400" y="4076700"/>
            <a:ext cx="2692400" cy="304800"/>
          </a:xfrm>
          <a:prstGeom prst="rect">
            <a:avLst/>
          </a:prstGeom>
          <a:noFill/>
        </p:spPr>
        <p:txBody>
          <a:bodyPr wrap="square" lIns="0" tIns="0" rIns="0" bIns="0" anchor="t">
            <a:spAutoFit/>
          </a:bodyPr>
          <a:lstStyle/>
          <a:p>
            <a:pPr marL="0" indent="0">
              <a:buNone/>
            </a:pPr>
            <a:r>
              <a:rPr lang="en-US" sz="1600" b="1" dirty="0">
                <a:solidFill>
                  <a:srgbClr val="1B1140"/>
                </a:solidFill>
                <a:latin typeface="Calibri" pitchFamily="34" charset="0"/>
                <a:cs typeface="Calibri" pitchFamily="34" charset="-120"/>
              </a:rPr>
              <a:t>Dashboard &amp; QA</a:t>
            </a:r>
          </a:p>
        </p:txBody>
      </p:sp>
      <p:sp>
        <p:nvSpPr>
          <p:cNvPr id="28" name="Text 29"/>
          <p:cNvSpPr txBox="1"/>
          <p:nvPr/>
        </p:nvSpPr>
        <p:spPr>
          <a:xfrm>
            <a:off x="8331200" y="4546600"/>
            <a:ext cx="3149600" cy="1270000"/>
          </a:xfrm>
          <a:prstGeom prst="rect">
            <a:avLst/>
          </a:prstGeom>
          <a:noFill/>
        </p:spPr>
        <p:txBody>
          <a:bodyPr wrap="square" lIns="0" tIns="0" rIns="0" bIns="0" anchor="t">
            <a:spAutoFit/>
          </a:bodyPr>
          <a:lstStyle/>
          <a:p>
            <a:pPr marL="0" indent="0">
              <a:lnSpc>
                <a:spcPct val="120000"/>
              </a:lnSpc>
              <a:buNone/>
            </a:pPr>
            <a:r>
              <a:rPr lang="en-US" sz="1300" dirty="0">
                <a:solidFill>
                  <a:srgbClr val="4A4270"/>
                </a:solidFill>
                <a:latin typeface="Calibri" pitchFamily="34" charset="0"/>
                <a:cs typeface="Calibri" pitchFamily="34" charset="-120"/>
              </a:rPr>
              <a:t>KPI cards, trend and vehicle-mix visuals, cancellation drill-downs and slicers — all totals reconciled back to the 150,000-row source.</a:t>
            </a:r>
          </a:p>
        </p:txBody>
      </p:sp>
      <p:sp>
        <p:nvSpPr>
          <p:cNvPr id="29" name="Text 30"/>
          <p:cNvSpPr txBox="1"/>
          <p:nvPr/>
        </p:nvSpPr>
        <p:spPr>
          <a:xfrm>
            <a:off x="508000" y="6413500"/>
            <a:ext cx="8890000" cy="169277"/>
          </a:xfrm>
          <a:prstGeom prst="rect">
            <a:avLst/>
          </a:prstGeom>
          <a:noFill/>
        </p:spPr>
        <p:txBody>
          <a:bodyPr wrap="square" lIns="0" tIns="0" rIns="0" bIns="0" anchor="t">
            <a:spAutoFit/>
          </a:bodyPr>
          <a:lstStyle/>
          <a:p>
            <a:pPr marL="0" indent="0">
              <a:buNone/>
            </a:pPr>
            <a:r>
              <a:rPr lang="en-US" sz="1100" dirty="0">
                <a:solidFill>
                  <a:srgbClr val="6B6390"/>
                </a:solidFill>
                <a:latin typeface="Calibri" pitchFamily="34" charset="0"/>
                <a:cs typeface="Calibri" pitchFamily="34" charset="-120"/>
              </a:rPr>
              <a:t>Built in Power BI Desktop  ·  Power Query for ETL  ·  DAX for measures  ·  Antony S Chirayil</a:t>
            </a:r>
          </a:p>
        </p:txBody>
      </p:sp>
    </p:spTree>
    <p:extLst>
      <p:ext uri="{BB962C8B-B14F-4D97-AF65-F5344CB8AC3E}">
        <p14:creationId xmlns:p14="http://schemas.microsoft.com/office/powerpoint/2010/main" val="3104620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Demand is stable — conversion is the problem</a:t>
            </a:r>
            <a:endParaRPr lang="en-US" sz="3000" dirty="0"/>
          </a:p>
        </p:txBody>
      </p:sp>
      <p:sp>
        <p:nvSpPr>
          <p:cNvPr id="4" name="Shape 2"/>
          <p:cNvSpPr/>
          <p:nvPr/>
        </p:nvSpPr>
        <p:spPr>
          <a:xfrm>
            <a:off x="502920" y="1298448"/>
            <a:ext cx="3456432" cy="896112"/>
          </a:xfrm>
          <a:prstGeom prst="roundRect">
            <a:avLst>
              <a:gd name="adj" fmla="val 6122"/>
            </a:avLst>
          </a:prstGeom>
          <a:solidFill>
            <a:srgbClr val="F4F2FC"/>
          </a:solidFill>
          <a:ln w="12700">
            <a:solidFill>
              <a:srgbClr val="E8E4F6"/>
            </a:solidFill>
            <a:prstDash val="solid"/>
          </a:ln>
        </p:spPr>
      </p:sp>
      <p:sp>
        <p:nvSpPr>
          <p:cNvPr id="5" name="Text 3"/>
          <p:cNvSpPr txBox="1"/>
          <p:nvPr/>
        </p:nvSpPr>
        <p:spPr>
          <a:xfrm>
            <a:off x="521208" y="1426464"/>
            <a:ext cx="3419856" cy="465978"/>
          </a:xfrm>
          <a:prstGeom prst="rect">
            <a:avLst/>
          </a:prstGeom>
          <a:noFill/>
          <a:ln/>
        </p:spPr>
        <p:txBody>
          <a:bodyPr wrap="square" lIns="0" tIns="0" rIns="0" bIns="0" rtlCol="0" anchor="ctr"/>
          <a:lstStyle/>
          <a:p>
            <a:pPr marL="0" indent="0" algn="ctr">
              <a:buNone/>
            </a:pPr>
            <a:r>
              <a:rPr lang="en-US" sz="2400" b="1" dirty="0">
                <a:solidFill>
                  <a:srgbClr val="1B1140"/>
                </a:solidFill>
                <a:latin typeface="Cambria" pitchFamily="34" charset="0"/>
                <a:ea typeface="Cambria" pitchFamily="34" charset="-122"/>
                <a:cs typeface="Cambria" pitchFamily="34" charset="-120"/>
              </a:rPr>
              <a:t>150,000</a:t>
            </a:r>
            <a:endParaRPr lang="en-US" sz="2400" dirty="0"/>
          </a:p>
        </p:txBody>
      </p:sp>
      <p:sp>
        <p:nvSpPr>
          <p:cNvPr id="6" name="Text 4"/>
          <p:cNvSpPr txBox="1"/>
          <p:nvPr/>
        </p:nvSpPr>
        <p:spPr>
          <a:xfrm>
            <a:off x="557784" y="1836115"/>
            <a:ext cx="3346704" cy="286756"/>
          </a:xfrm>
          <a:prstGeom prst="rect">
            <a:avLst/>
          </a:prstGeom>
          <a:noFill/>
          <a:ln/>
        </p:spPr>
        <p:txBody>
          <a:bodyPr wrap="square" lIns="0" tIns="0" rIns="0" bIns="0" rtlCol="0" anchor="t"/>
          <a:lstStyle/>
          <a:p>
            <a:pPr marL="0" indent="0" algn="ctr">
              <a:buNone/>
            </a:pPr>
            <a:r>
              <a:rPr lang="en-US" sz="1050" dirty="0">
                <a:solidFill>
                  <a:srgbClr val="5B5670"/>
                </a:solidFill>
                <a:latin typeface="Calibri" pitchFamily="34" charset="0"/>
                <a:ea typeface="Calibri" pitchFamily="34" charset="-122"/>
                <a:cs typeface="Calibri" pitchFamily="34" charset="-120"/>
              </a:rPr>
              <a:t>Total bookings</a:t>
            </a:r>
            <a:endParaRPr lang="en-US" sz="1050" dirty="0"/>
          </a:p>
        </p:txBody>
      </p:sp>
      <p:sp>
        <p:nvSpPr>
          <p:cNvPr id="7" name="Shape 5"/>
          <p:cNvSpPr/>
          <p:nvPr/>
        </p:nvSpPr>
        <p:spPr>
          <a:xfrm>
            <a:off x="4187952" y="1298448"/>
            <a:ext cx="3456432" cy="896112"/>
          </a:xfrm>
          <a:prstGeom prst="roundRect">
            <a:avLst>
              <a:gd name="adj" fmla="val 6122"/>
            </a:avLst>
          </a:prstGeom>
          <a:solidFill>
            <a:srgbClr val="F4F2FC"/>
          </a:solidFill>
          <a:ln w="12700">
            <a:solidFill>
              <a:srgbClr val="E8E4F6"/>
            </a:solidFill>
            <a:prstDash val="solid"/>
          </a:ln>
        </p:spPr>
      </p:sp>
      <p:sp>
        <p:nvSpPr>
          <p:cNvPr id="8" name="Text 6"/>
          <p:cNvSpPr txBox="1"/>
          <p:nvPr/>
        </p:nvSpPr>
        <p:spPr>
          <a:xfrm>
            <a:off x="4206240" y="1426464"/>
            <a:ext cx="3419856" cy="465978"/>
          </a:xfrm>
          <a:prstGeom prst="rect">
            <a:avLst/>
          </a:prstGeom>
          <a:noFill/>
          <a:ln/>
        </p:spPr>
        <p:txBody>
          <a:bodyPr wrap="square" lIns="0" tIns="0" rIns="0" bIns="0" rtlCol="0" anchor="ctr"/>
          <a:lstStyle/>
          <a:p>
            <a:pPr marL="0" indent="0" algn="ctr">
              <a:buNone/>
            </a:pPr>
            <a:r>
              <a:rPr lang="en-US" sz="2400" b="1" dirty="0">
                <a:solidFill>
                  <a:srgbClr val="1B1140"/>
                </a:solidFill>
                <a:latin typeface="Cambria" pitchFamily="34" charset="0"/>
                <a:ea typeface="Cambria" pitchFamily="34" charset="-122"/>
                <a:cs typeface="Cambria" pitchFamily="34" charset="-120"/>
              </a:rPr>
              <a:t>93,000</a:t>
            </a:r>
            <a:endParaRPr lang="en-US" sz="2400" dirty="0"/>
          </a:p>
        </p:txBody>
      </p:sp>
      <p:sp>
        <p:nvSpPr>
          <p:cNvPr id="9" name="Text 7"/>
          <p:cNvSpPr txBox="1"/>
          <p:nvPr/>
        </p:nvSpPr>
        <p:spPr>
          <a:xfrm>
            <a:off x="4242816" y="1836115"/>
            <a:ext cx="3346704" cy="286756"/>
          </a:xfrm>
          <a:prstGeom prst="rect">
            <a:avLst/>
          </a:prstGeom>
          <a:noFill/>
          <a:ln/>
        </p:spPr>
        <p:txBody>
          <a:bodyPr wrap="square" lIns="0" tIns="0" rIns="0" bIns="0" rtlCol="0" anchor="t"/>
          <a:lstStyle/>
          <a:p>
            <a:pPr marL="0" indent="0" algn="ctr">
              <a:buNone/>
            </a:pPr>
            <a:r>
              <a:rPr lang="en-US" sz="1050" dirty="0">
                <a:solidFill>
                  <a:srgbClr val="5B5670"/>
                </a:solidFill>
                <a:latin typeface="Calibri" pitchFamily="34" charset="0"/>
                <a:ea typeface="Calibri" pitchFamily="34" charset="-122"/>
                <a:cs typeface="Calibri" pitchFamily="34" charset="-120"/>
              </a:rPr>
              <a:t>Completed rides</a:t>
            </a:r>
            <a:endParaRPr lang="en-US" sz="1050" dirty="0"/>
          </a:p>
        </p:txBody>
      </p:sp>
      <p:sp>
        <p:nvSpPr>
          <p:cNvPr id="10" name="Shape 8"/>
          <p:cNvSpPr/>
          <p:nvPr/>
        </p:nvSpPr>
        <p:spPr>
          <a:xfrm>
            <a:off x="7872984" y="1298448"/>
            <a:ext cx="3456432" cy="896112"/>
          </a:xfrm>
          <a:prstGeom prst="roundRect">
            <a:avLst>
              <a:gd name="adj" fmla="val 6122"/>
            </a:avLst>
          </a:prstGeom>
          <a:solidFill>
            <a:srgbClr val="F4F2FC"/>
          </a:solidFill>
          <a:ln w="12700">
            <a:solidFill>
              <a:srgbClr val="E8E4F6"/>
            </a:solidFill>
            <a:prstDash val="solid"/>
          </a:ln>
        </p:spPr>
      </p:sp>
      <p:sp>
        <p:nvSpPr>
          <p:cNvPr id="11" name="Text 9"/>
          <p:cNvSpPr txBox="1"/>
          <p:nvPr/>
        </p:nvSpPr>
        <p:spPr>
          <a:xfrm>
            <a:off x="7891272" y="1426464"/>
            <a:ext cx="3419856" cy="465978"/>
          </a:xfrm>
          <a:prstGeom prst="rect">
            <a:avLst/>
          </a:prstGeom>
          <a:noFill/>
          <a:ln/>
        </p:spPr>
        <p:txBody>
          <a:bodyPr wrap="square" lIns="0" tIns="0" rIns="0" bIns="0" rtlCol="0" anchor="ctr"/>
          <a:lstStyle/>
          <a:p>
            <a:pPr marL="0" indent="0" algn="ctr">
              <a:buNone/>
            </a:pPr>
            <a:r>
              <a:rPr lang="en-US" sz="2400" b="1" dirty="0">
                <a:solidFill>
                  <a:srgbClr val="1B1140"/>
                </a:solidFill>
                <a:latin typeface="Cambria" pitchFamily="34" charset="0"/>
                <a:ea typeface="Cambria" pitchFamily="34" charset="-122"/>
                <a:cs typeface="Cambria" pitchFamily="34" charset="-120"/>
              </a:rPr>
              <a:t>62.0%</a:t>
            </a:r>
            <a:endParaRPr lang="en-US" sz="2400" dirty="0"/>
          </a:p>
        </p:txBody>
      </p:sp>
      <p:sp>
        <p:nvSpPr>
          <p:cNvPr id="12" name="Text 10"/>
          <p:cNvSpPr txBox="1"/>
          <p:nvPr/>
        </p:nvSpPr>
        <p:spPr>
          <a:xfrm>
            <a:off x="7927848" y="1836115"/>
            <a:ext cx="3346704" cy="286756"/>
          </a:xfrm>
          <a:prstGeom prst="rect">
            <a:avLst/>
          </a:prstGeom>
          <a:noFill/>
          <a:ln/>
        </p:spPr>
        <p:txBody>
          <a:bodyPr wrap="square" lIns="0" tIns="0" rIns="0" bIns="0" rtlCol="0" anchor="t"/>
          <a:lstStyle/>
          <a:p>
            <a:pPr marL="0" indent="0" algn="ctr">
              <a:buNone/>
            </a:pPr>
            <a:r>
              <a:rPr lang="en-US" sz="1050" dirty="0">
                <a:solidFill>
                  <a:srgbClr val="5B5670"/>
                </a:solidFill>
                <a:latin typeface="Calibri" pitchFamily="34" charset="0"/>
                <a:ea typeface="Calibri" pitchFamily="34" charset="-122"/>
                <a:cs typeface="Calibri" pitchFamily="34" charset="-120"/>
              </a:rPr>
              <a:t>Completion rate</a:t>
            </a:r>
            <a:endParaRPr lang="en-US" sz="1050" dirty="0"/>
          </a:p>
        </p:txBody>
      </p:sp>
      <p:sp>
        <p:nvSpPr>
          <p:cNvPr id="13" name="Shape 11"/>
          <p:cNvSpPr/>
          <p:nvPr/>
        </p:nvSpPr>
        <p:spPr>
          <a:xfrm>
            <a:off x="502920" y="2322576"/>
            <a:ext cx="3456432" cy="896112"/>
          </a:xfrm>
          <a:prstGeom prst="roundRect">
            <a:avLst>
              <a:gd name="adj" fmla="val 6122"/>
            </a:avLst>
          </a:prstGeom>
          <a:solidFill>
            <a:srgbClr val="F4F2FC"/>
          </a:solidFill>
          <a:ln w="12700">
            <a:solidFill>
              <a:srgbClr val="E8E4F6"/>
            </a:solidFill>
            <a:prstDash val="solid"/>
          </a:ln>
        </p:spPr>
      </p:sp>
      <p:sp>
        <p:nvSpPr>
          <p:cNvPr id="14" name="Text 12"/>
          <p:cNvSpPr txBox="1"/>
          <p:nvPr/>
        </p:nvSpPr>
        <p:spPr>
          <a:xfrm>
            <a:off x="521208" y="2450592"/>
            <a:ext cx="3419856" cy="465978"/>
          </a:xfrm>
          <a:prstGeom prst="rect">
            <a:avLst/>
          </a:prstGeom>
          <a:noFill/>
          <a:ln/>
        </p:spPr>
        <p:txBody>
          <a:bodyPr wrap="square" lIns="0" tIns="0" rIns="0" bIns="0" rtlCol="0" anchor="ctr"/>
          <a:lstStyle/>
          <a:p>
            <a:pPr marL="0" indent="0" algn="ctr">
              <a:buNone/>
            </a:pPr>
            <a:r>
              <a:rPr lang="en-US" sz="2400" b="1" dirty="0">
                <a:solidFill>
                  <a:srgbClr val="1B1140"/>
                </a:solidFill>
                <a:latin typeface="Cambria" pitchFamily="34" charset="0"/>
                <a:ea typeface="Cambria" pitchFamily="34" charset="-122"/>
                <a:cs typeface="Cambria" pitchFamily="34" charset="-120"/>
              </a:rPr>
              <a:t>₹51.8M</a:t>
            </a:r>
            <a:endParaRPr lang="en-US" sz="2400" dirty="0"/>
          </a:p>
        </p:txBody>
      </p:sp>
      <p:sp>
        <p:nvSpPr>
          <p:cNvPr id="15" name="Text 13"/>
          <p:cNvSpPr txBox="1"/>
          <p:nvPr/>
        </p:nvSpPr>
        <p:spPr>
          <a:xfrm>
            <a:off x="557784" y="2860243"/>
            <a:ext cx="3346704" cy="286756"/>
          </a:xfrm>
          <a:prstGeom prst="rect">
            <a:avLst/>
          </a:prstGeom>
          <a:noFill/>
          <a:ln/>
        </p:spPr>
        <p:txBody>
          <a:bodyPr wrap="square" lIns="0" tIns="0" rIns="0" bIns="0" rtlCol="0" anchor="t"/>
          <a:lstStyle/>
          <a:p>
            <a:pPr marL="0" indent="0" algn="ctr">
              <a:buNone/>
            </a:pPr>
            <a:r>
              <a:rPr lang="en-US" sz="1050" dirty="0">
                <a:solidFill>
                  <a:srgbClr val="5B5670"/>
                </a:solidFill>
                <a:latin typeface="Calibri" pitchFamily="34" charset="0"/>
                <a:ea typeface="Calibri" pitchFamily="34" charset="-122"/>
                <a:cs typeface="Calibri" pitchFamily="34" charset="-120"/>
              </a:rPr>
              <a:t>Total booking value</a:t>
            </a:r>
            <a:endParaRPr lang="en-US" sz="1050" dirty="0"/>
          </a:p>
        </p:txBody>
      </p:sp>
      <p:sp>
        <p:nvSpPr>
          <p:cNvPr id="16" name="Shape 14"/>
          <p:cNvSpPr/>
          <p:nvPr/>
        </p:nvSpPr>
        <p:spPr>
          <a:xfrm>
            <a:off x="4187952" y="2322576"/>
            <a:ext cx="3456432" cy="896112"/>
          </a:xfrm>
          <a:prstGeom prst="roundRect">
            <a:avLst>
              <a:gd name="adj" fmla="val 6122"/>
            </a:avLst>
          </a:prstGeom>
          <a:solidFill>
            <a:srgbClr val="F4F2FC"/>
          </a:solidFill>
          <a:ln w="12700">
            <a:solidFill>
              <a:srgbClr val="E8E4F6"/>
            </a:solidFill>
            <a:prstDash val="solid"/>
          </a:ln>
        </p:spPr>
      </p:sp>
      <p:sp>
        <p:nvSpPr>
          <p:cNvPr id="17" name="Text 15"/>
          <p:cNvSpPr txBox="1"/>
          <p:nvPr/>
        </p:nvSpPr>
        <p:spPr>
          <a:xfrm>
            <a:off x="4206240" y="2450592"/>
            <a:ext cx="3419856" cy="465978"/>
          </a:xfrm>
          <a:prstGeom prst="rect">
            <a:avLst/>
          </a:prstGeom>
          <a:noFill/>
          <a:ln/>
        </p:spPr>
        <p:txBody>
          <a:bodyPr wrap="square" lIns="0" tIns="0" rIns="0" bIns="0" rtlCol="0" anchor="ctr"/>
          <a:lstStyle/>
          <a:p>
            <a:pPr marL="0" indent="0" algn="ctr">
              <a:buNone/>
            </a:pPr>
            <a:r>
              <a:rPr lang="en-US" sz="2400" b="1" dirty="0">
                <a:solidFill>
                  <a:srgbClr val="1B1140"/>
                </a:solidFill>
                <a:latin typeface="Cambria" pitchFamily="34" charset="0"/>
                <a:ea typeface="Cambria" pitchFamily="34" charset="-122"/>
                <a:cs typeface="Cambria" pitchFamily="34" charset="-120"/>
              </a:rPr>
              <a:t>₹508</a:t>
            </a:r>
            <a:endParaRPr lang="en-US" sz="2400" dirty="0"/>
          </a:p>
        </p:txBody>
      </p:sp>
      <p:sp>
        <p:nvSpPr>
          <p:cNvPr id="18" name="Text 16"/>
          <p:cNvSpPr txBox="1"/>
          <p:nvPr/>
        </p:nvSpPr>
        <p:spPr>
          <a:xfrm>
            <a:off x="4242816" y="2860243"/>
            <a:ext cx="3346704" cy="286756"/>
          </a:xfrm>
          <a:prstGeom prst="rect">
            <a:avLst/>
          </a:prstGeom>
          <a:noFill/>
          <a:ln/>
        </p:spPr>
        <p:txBody>
          <a:bodyPr wrap="square" lIns="0" tIns="0" rIns="0" bIns="0" rtlCol="0" anchor="t"/>
          <a:lstStyle/>
          <a:p>
            <a:pPr marL="0" indent="0" algn="ctr">
              <a:buNone/>
            </a:pPr>
            <a:r>
              <a:rPr lang="en-US" sz="1050" dirty="0">
                <a:solidFill>
                  <a:srgbClr val="5B5670"/>
                </a:solidFill>
                <a:latin typeface="Calibri" pitchFamily="34" charset="0"/>
                <a:ea typeface="Calibri" pitchFamily="34" charset="-122"/>
                <a:cs typeface="Calibri" pitchFamily="34" charset="-120"/>
              </a:rPr>
              <a:t>Avg completed ride value</a:t>
            </a:r>
            <a:endParaRPr lang="en-US" sz="1050" dirty="0"/>
          </a:p>
        </p:txBody>
      </p:sp>
      <p:sp>
        <p:nvSpPr>
          <p:cNvPr id="19" name="Shape 17"/>
          <p:cNvSpPr/>
          <p:nvPr/>
        </p:nvSpPr>
        <p:spPr>
          <a:xfrm>
            <a:off x="7872984" y="2322576"/>
            <a:ext cx="3456432" cy="896112"/>
          </a:xfrm>
          <a:prstGeom prst="roundRect">
            <a:avLst>
              <a:gd name="adj" fmla="val 6122"/>
            </a:avLst>
          </a:prstGeom>
          <a:solidFill>
            <a:srgbClr val="F4F2FC"/>
          </a:solidFill>
          <a:ln w="12700">
            <a:solidFill>
              <a:srgbClr val="E8E4F6"/>
            </a:solidFill>
            <a:prstDash val="solid"/>
          </a:ln>
        </p:spPr>
      </p:sp>
      <p:sp>
        <p:nvSpPr>
          <p:cNvPr id="20" name="Text 18"/>
          <p:cNvSpPr txBox="1"/>
          <p:nvPr/>
        </p:nvSpPr>
        <p:spPr>
          <a:xfrm>
            <a:off x="7891272" y="2450592"/>
            <a:ext cx="3419856" cy="465978"/>
          </a:xfrm>
          <a:prstGeom prst="rect">
            <a:avLst/>
          </a:prstGeom>
          <a:noFill/>
          <a:ln/>
        </p:spPr>
        <p:txBody>
          <a:bodyPr wrap="square" lIns="0" tIns="0" rIns="0" bIns="0" rtlCol="0" anchor="ctr"/>
          <a:lstStyle/>
          <a:p>
            <a:pPr marL="0" indent="0" algn="ctr">
              <a:buNone/>
            </a:pPr>
            <a:r>
              <a:rPr lang="en-US" sz="2400" b="1" dirty="0">
                <a:solidFill>
                  <a:srgbClr val="1B1140"/>
                </a:solidFill>
                <a:latin typeface="Cambria" pitchFamily="34" charset="0"/>
                <a:ea typeface="Cambria" pitchFamily="34" charset="-122"/>
                <a:cs typeface="Cambria" pitchFamily="34" charset="-120"/>
              </a:rPr>
              <a:t>26.0 km</a:t>
            </a:r>
            <a:endParaRPr lang="en-US" sz="2400" dirty="0"/>
          </a:p>
        </p:txBody>
      </p:sp>
      <p:sp>
        <p:nvSpPr>
          <p:cNvPr id="21" name="Text 19"/>
          <p:cNvSpPr txBox="1"/>
          <p:nvPr/>
        </p:nvSpPr>
        <p:spPr>
          <a:xfrm>
            <a:off x="7927848" y="2860243"/>
            <a:ext cx="3346704" cy="286756"/>
          </a:xfrm>
          <a:prstGeom prst="rect">
            <a:avLst/>
          </a:prstGeom>
          <a:noFill/>
          <a:ln/>
        </p:spPr>
        <p:txBody>
          <a:bodyPr wrap="square" lIns="0" tIns="0" rIns="0" bIns="0" rtlCol="0" anchor="t"/>
          <a:lstStyle/>
          <a:p>
            <a:pPr marL="0" indent="0" algn="ctr">
              <a:buNone/>
            </a:pPr>
            <a:r>
              <a:rPr lang="en-US" sz="1050" dirty="0">
                <a:solidFill>
                  <a:srgbClr val="5B5670"/>
                </a:solidFill>
                <a:latin typeface="Calibri" pitchFamily="34" charset="0"/>
                <a:ea typeface="Calibri" pitchFamily="34" charset="-122"/>
                <a:cs typeface="Calibri" pitchFamily="34" charset="-120"/>
              </a:rPr>
              <a:t>Avg completed distance</a:t>
            </a:r>
            <a:endParaRPr lang="en-US" sz="1050" dirty="0"/>
          </a:p>
        </p:txBody>
      </p:sp>
      <p:sp>
        <p:nvSpPr>
          <p:cNvPr id="22" name="Shape 20"/>
          <p:cNvSpPr/>
          <p:nvPr/>
        </p:nvSpPr>
        <p:spPr>
          <a:xfrm>
            <a:off x="502920" y="3493008"/>
            <a:ext cx="11155680" cy="1024128"/>
          </a:xfrm>
          <a:prstGeom prst="roundRect">
            <a:avLst>
              <a:gd name="adj" fmla="val 4464"/>
            </a:avLst>
          </a:prstGeom>
          <a:solidFill>
            <a:srgbClr val="1B1140"/>
          </a:solidFill>
          <a:ln w="12700">
            <a:solidFill>
              <a:srgbClr val="1B1140"/>
            </a:solidFill>
            <a:prstDash val="solid"/>
          </a:ln>
        </p:spPr>
      </p:sp>
      <p:sp>
        <p:nvSpPr>
          <p:cNvPr id="23" name="Text 21"/>
          <p:cNvSpPr txBox="1"/>
          <p:nvPr/>
        </p:nvSpPr>
        <p:spPr>
          <a:xfrm>
            <a:off x="731520" y="3639312"/>
            <a:ext cx="2286000" cy="731520"/>
          </a:xfrm>
          <a:prstGeom prst="rect">
            <a:avLst/>
          </a:prstGeom>
          <a:noFill/>
          <a:ln/>
        </p:spPr>
        <p:txBody>
          <a:bodyPr wrap="square" lIns="0" tIns="0" rIns="0" bIns="0" rtlCol="0" anchor="ctr"/>
          <a:lstStyle/>
          <a:p>
            <a:pPr marL="0" indent="0">
              <a:buNone/>
            </a:pPr>
            <a:r>
              <a:rPr lang="en-US" sz="3600" b="1" dirty="0">
                <a:solidFill>
                  <a:srgbClr val="EDA100"/>
                </a:solidFill>
                <a:latin typeface="Cambria" pitchFamily="34" charset="0"/>
                <a:ea typeface="Cambria" pitchFamily="34" charset="-122"/>
                <a:cs typeface="Cambria" pitchFamily="34" charset="-120"/>
              </a:rPr>
              <a:t>₹24.4M</a:t>
            </a:r>
            <a:endParaRPr lang="en-US" sz="3600" dirty="0"/>
          </a:p>
        </p:txBody>
      </p:sp>
      <p:sp>
        <p:nvSpPr>
          <p:cNvPr id="24" name="Text 22"/>
          <p:cNvSpPr txBox="1"/>
          <p:nvPr/>
        </p:nvSpPr>
        <p:spPr>
          <a:xfrm>
            <a:off x="2971800" y="3639312"/>
            <a:ext cx="475488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of demand never converts to revenue</a:t>
            </a:r>
            <a:endParaRPr lang="en-US" sz="1500" dirty="0"/>
          </a:p>
        </p:txBody>
      </p:sp>
      <p:sp>
        <p:nvSpPr>
          <p:cNvPr id="25" name="Text 23"/>
          <p:cNvSpPr txBox="1"/>
          <p:nvPr/>
        </p:nvSpPr>
        <p:spPr>
          <a:xfrm>
            <a:off x="2971800" y="3968496"/>
            <a:ext cx="8412480" cy="457200"/>
          </a:xfrm>
          <a:prstGeom prst="rect">
            <a:avLst/>
          </a:prstGeom>
          <a:noFill/>
          <a:ln/>
        </p:spPr>
        <p:txBody>
          <a:bodyPr wrap="square" lIns="0" tIns="0" rIns="0" bIns="0" rtlCol="0" anchor="ctr"/>
          <a:lstStyle/>
          <a:p>
            <a:pPr marL="0" indent="0">
              <a:lnSpc>
                <a:spcPct val="110000"/>
              </a:lnSpc>
              <a:buNone/>
            </a:pPr>
            <a:r>
              <a:rPr lang="en-US" sz="1150" dirty="0">
                <a:solidFill>
                  <a:srgbClr val="C9C2E8"/>
                </a:solidFill>
                <a:latin typeface="Calibri" pitchFamily="34" charset="0"/>
                <a:ea typeface="Calibri" pitchFamily="34" charset="-122"/>
                <a:cs typeface="Calibri" pitchFamily="34" charset="-120"/>
              </a:rPr>
              <a:t>47,700 cancelled or unfulfilled bookings × ₹508 average ride value — equivalent to a 51.6% uplift on the ₹47.3M actually earned.</a:t>
            </a:r>
            <a:endParaRPr lang="en-US" sz="1150" dirty="0"/>
          </a:p>
        </p:txBody>
      </p:sp>
      <p:sp>
        <p:nvSpPr>
          <p:cNvPr id="26" name="Shape 24"/>
          <p:cNvSpPr/>
          <p:nvPr/>
        </p:nvSpPr>
        <p:spPr>
          <a:xfrm>
            <a:off x="502920" y="4736592"/>
            <a:ext cx="310896" cy="310896"/>
          </a:xfrm>
          <a:prstGeom prst="ellipse">
            <a:avLst/>
          </a:prstGeom>
          <a:solidFill>
            <a:srgbClr val="4A3AA7"/>
          </a:solidFill>
          <a:ln w="12700">
            <a:solidFill>
              <a:srgbClr val="4A3AA7"/>
            </a:solidFill>
            <a:prstDash val="solid"/>
          </a:ln>
        </p:spPr>
      </p:sp>
      <p:sp>
        <p:nvSpPr>
          <p:cNvPr id="27" name="Text 25"/>
          <p:cNvSpPr txBox="1"/>
          <p:nvPr/>
        </p:nvSpPr>
        <p:spPr>
          <a:xfrm>
            <a:off x="502920" y="473659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8" name="Text 26"/>
          <p:cNvSpPr txBox="1"/>
          <p:nvPr/>
        </p:nvSpPr>
        <p:spPr>
          <a:xfrm>
            <a:off x="923544" y="4736592"/>
            <a:ext cx="3108960" cy="310896"/>
          </a:xfrm>
          <a:prstGeom prst="rect">
            <a:avLst/>
          </a:prstGeom>
          <a:noFill/>
          <a:ln/>
        </p:spPr>
        <p:txBody>
          <a:bodyPr wrap="square" lIns="0" tIns="0" rIns="0" bIns="0" rtlCol="0" anchor="ctr"/>
          <a:lstStyle/>
          <a:p>
            <a:pPr marL="0" indent="0">
              <a:lnSpc>
                <a:spcPct val="105000"/>
              </a:lnSpc>
              <a:buNone/>
            </a:pPr>
            <a:r>
              <a:rPr lang="en-US" sz="1250" b="1" dirty="0">
                <a:solidFill>
                  <a:srgbClr val="1B1140"/>
                </a:solidFill>
                <a:latin typeface="Calibri" pitchFamily="34" charset="0"/>
                <a:ea typeface="Calibri" pitchFamily="34" charset="-122"/>
                <a:cs typeface="Calibri" pitchFamily="34" charset="-120"/>
              </a:rPr>
              <a:t>Supply, not demand, is the constraint</a:t>
            </a:r>
            <a:endParaRPr lang="en-US" sz="1250" dirty="0"/>
          </a:p>
        </p:txBody>
      </p:sp>
      <p:sp>
        <p:nvSpPr>
          <p:cNvPr id="29" name="Text 27"/>
          <p:cNvSpPr txBox="1"/>
          <p:nvPr/>
        </p:nvSpPr>
        <p:spPr>
          <a:xfrm>
            <a:off x="502920" y="5175504"/>
            <a:ext cx="3529584" cy="1051560"/>
          </a:xfrm>
          <a:prstGeom prst="rect">
            <a:avLst/>
          </a:prstGeom>
          <a:noFill/>
          <a:ln/>
        </p:spPr>
        <p:txBody>
          <a:bodyPr wrap="square" lIns="0" tIns="0" rIns="0" bIns="0" rtlCol="0" anchor="ctr"/>
          <a:lstStyle/>
          <a:p>
            <a:pPr marL="0" indent="0">
              <a:lnSpc>
                <a:spcPct val="115000"/>
              </a:lnSpc>
              <a:buNone/>
            </a:pPr>
            <a:r>
              <a:rPr lang="en-US" sz="1100" dirty="0">
                <a:solidFill>
                  <a:srgbClr val="5B5670"/>
                </a:solidFill>
                <a:latin typeface="Calibri" pitchFamily="34" charset="0"/>
                <a:ea typeface="Calibri" pitchFamily="34" charset="-122"/>
                <a:cs typeface="Calibri" pitchFamily="34" charset="-120"/>
              </a:rPr>
              <a:t>Driver cancellations (18.0%) and 'no driver found' (7.0%) account for 25% of all bookings — 3.6× the customer-cancellation rate.</a:t>
            </a:r>
            <a:endParaRPr lang="en-US" sz="1100" dirty="0"/>
          </a:p>
        </p:txBody>
      </p:sp>
      <p:sp>
        <p:nvSpPr>
          <p:cNvPr id="30" name="Shape 28"/>
          <p:cNvSpPr/>
          <p:nvPr/>
        </p:nvSpPr>
        <p:spPr>
          <a:xfrm>
            <a:off x="4279392" y="4736592"/>
            <a:ext cx="310896" cy="310896"/>
          </a:xfrm>
          <a:prstGeom prst="ellipse">
            <a:avLst/>
          </a:prstGeom>
          <a:solidFill>
            <a:srgbClr val="4A3AA7"/>
          </a:solidFill>
          <a:ln w="12700">
            <a:solidFill>
              <a:srgbClr val="4A3AA7"/>
            </a:solidFill>
            <a:prstDash val="solid"/>
          </a:ln>
        </p:spPr>
      </p:sp>
      <p:sp>
        <p:nvSpPr>
          <p:cNvPr id="31" name="Text 29"/>
          <p:cNvSpPr txBox="1"/>
          <p:nvPr/>
        </p:nvSpPr>
        <p:spPr>
          <a:xfrm>
            <a:off x="4279392" y="473659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32" name="Text 30"/>
          <p:cNvSpPr txBox="1"/>
          <p:nvPr/>
        </p:nvSpPr>
        <p:spPr>
          <a:xfrm>
            <a:off x="4700016" y="4736592"/>
            <a:ext cx="3108960" cy="310896"/>
          </a:xfrm>
          <a:prstGeom prst="rect">
            <a:avLst/>
          </a:prstGeom>
          <a:noFill/>
          <a:ln/>
        </p:spPr>
        <p:txBody>
          <a:bodyPr wrap="square" lIns="0" tIns="0" rIns="0" bIns="0" rtlCol="0" anchor="ctr"/>
          <a:lstStyle/>
          <a:p>
            <a:pPr marL="0" indent="0">
              <a:lnSpc>
                <a:spcPct val="105000"/>
              </a:lnSpc>
              <a:buNone/>
            </a:pPr>
            <a:r>
              <a:rPr lang="en-US" sz="1250" b="1" dirty="0">
                <a:solidFill>
                  <a:srgbClr val="1B1140"/>
                </a:solidFill>
                <a:latin typeface="Calibri" pitchFamily="34" charset="0"/>
                <a:ea typeface="Calibri" pitchFamily="34" charset="-122"/>
                <a:cs typeface="Calibri" pitchFamily="34" charset="-120"/>
              </a:rPr>
              <a:t>Volume is flat and predictable</a:t>
            </a:r>
            <a:endParaRPr lang="en-US" sz="1250" dirty="0"/>
          </a:p>
        </p:txBody>
      </p:sp>
      <p:sp>
        <p:nvSpPr>
          <p:cNvPr id="33" name="Text 31"/>
          <p:cNvSpPr txBox="1"/>
          <p:nvPr/>
        </p:nvSpPr>
        <p:spPr>
          <a:xfrm>
            <a:off x="4279392" y="5175504"/>
            <a:ext cx="3529584" cy="1051560"/>
          </a:xfrm>
          <a:prstGeom prst="rect">
            <a:avLst/>
          </a:prstGeom>
          <a:noFill/>
          <a:ln/>
        </p:spPr>
        <p:txBody>
          <a:bodyPr wrap="square" lIns="0" tIns="0" rIns="0" bIns="0" rtlCol="0" anchor="ctr"/>
          <a:lstStyle/>
          <a:p>
            <a:pPr marL="0" indent="0">
              <a:lnSpc>
                <a:spcPct val="115000"/>
              </a:lnSpc>
              <a:buNone/>
            </a:pPr>
            <a:r>
              <a:rPr lang="en-US" sz="1100" dirty="0">
                <a:solidFill>
                  <a:srgbClr val="5B5670"/>
                </a:solidFill>
                <a:latin typeface="Calibri" pitchFamily="34" charset="0"/>
                <a:ea typeface="Calibri" pitchFamily="34" charset="-122"/>
                <a:cs typeface="Calibri" pitchFamily="34" charset="-120"/>
              </a:rPr>
              <a:t>Monthly bookings vary only 11,927–12,897 and weekday volume varies under 2%. Capacity can be planned steady-state.</a:t>
            </a:r>
            <a:endParaRPr lang="en-US" sz="1100" dirty="0"/>
          </a:p>
        </p:txBody>
      </p:sp>
      <p:sp>
        <p:nvSpPr>
          <p:cNvPr id="34" name="Shape 32"/>
          <p:cNvSpPr/>
          <p:nvPr/>
        </p:nvSpPr>
        <p:spPr>
          <a:xfrm>
            <a:off x="8055864" y="4736592"/>
            <a:ext cx="310896" cy="310896"/>
          </a:xfrm>
          <a:prstGeom prst="ellipse">
            <a:avLst/>
          </a:prstGeom>
          <a:solidFill>
            <a:srgbClr val="4A3AA7"/>
          </a:solidFill>
          <a:ln w="12700">
            <a:solidFill>
              <a:srgbClr val="4A3AA7"/>
            </a:solidFill>
            <a:prstDash val="solid"/>
          </a:ln>
        </p:spPr>
      </p:sp>
      <p:sp>
        <p:nvSpPr>
          <p:cNvPr id="35" name="Text 33"/>
          <p:cNvSpPr txBox="1"/>
          <p:nvPr/>
        </p:nvSpPr>
        <p:spPr>
          <a:xfrm>
            <a:off x="8055864" y="473659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6" name="Text 34"/>
          <p:cNvSpPr txBox="1"/>
          <p:nvPr/>
        </p:nvSpPr>
        <p:spPr>
          <a:xfrm>
            <a:off x="8476488" y="4736592"/>
            <a:ext cx="3108960" cy="310896"/>
          </a:xfrm>
          <a:prstGeom prst="rect">
            <a:avLst/>
          </a:prstGeom>
          <a:noFill/>
          <a:ln/>
        </p:spPr>
        <p:txBody>
          <a:bodyPr wrap="square" lIns="0" tIns="0" rIns="0" bIns="0" rtlCol="0" anchor="ctr"/>
          <a:lstStyle/>
          <a:p>
            <a:pPr marL="0" indent="0">
              <a:lnSpc>
                <a:spcPct val="105000"/>
              </a:lnSpc>
              <a:buNone/>
            </a:pPr>
            <a:r>
              <a:rPr lang="en-US" sz="1250" b="1" dirty="0">
                <a:solidFill>
                  <a:srgbClr val="1B1140"/>
                </a:solidFill>
                <a:latin typeface="Calibri" pitchFamily="34" charset="0"/>
                <a:ea typeface="Calibri" pitchFamily="34" charset="-122"/>
                <a:cs typeface="Calibri" pitchFamily="34" charset="-120"/>
              </a:rPr>
              <a:t>There is effectively no repeat business</a:t>
            </a:r>
            <a:endParaRPr lang="en-US" sz="1250" dirty="0"/>
          </a:p>
        </p:txBody>
      </p:sp>
      <p:sp>
        <p:nvSpPr>
          <p:cNvPr id="37" name="Text 35"/>
          <p:cNvSpPr txBox="1"/>
          <p:nvPr/>
        </p:nvSpPr>
        <p:spPr>
          <a:xfrm>
            <a:off x="8055864" y="5175504"/>
            <a:ext cx="3529584" cy="1051560"/>
          </a:xfrm>
          <a:prstGeom prst="rect">
            <a:avLst/>
          </a:prstGeom>
          <a:noFill/>
          <a:ln/>
        </p:spPr>
        <p:txBody>
          <a:bodyPr wrap="square" lIns="0" tIns="0" rIns="0" bIns="0" rtlCol="0" anchor="ctr"/>
          <a:lstStyle/>
          <a:p>
            <a:pPr marL="0" indent="0">
              <a:lnSpc>
                <a:spcPct val="115000"/>
              </a:lnSpc>
              <a:buNone/>
            </a:pPr>
            <a:r>
              <a:rPr lang="en-US" sz="1100" dirty="0">
                <a:solidFill>
                  <a:srgbClr val="5B5670"/>
                </a:solidFill>
                <a:latin typeface="Calibri" pitchFamily="34" charset="0"/>
                <a:ea typeface="Calibri" pitchFamily="34" charset="-122"/>
                <a:cs typeface="Calibri" pitchFamily="34" charset="-120"/>
              </a:rPr>
              <a:t>148,788 unique customers for 150,000 bookings — only 0.81% booked more than once. Growth today is 100% acquisition.</a:t>
            </a:r>
            <a:endParaRPr lang="en-US" sz="1100" dirty="0"/>
          </a:p>
        </p:txBody>
      </p:sp>
      <p:sp>
        <p:nvSpPr>
          <p:cNvPr id="38" name="Text 36"/>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39" name="Text 37"/>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OVERALL PERFORMANCE</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Steady demand, a persistent 38% conversion gap</a:t>
            </a:r>
            <a:endParaRPr lang="en-US" sz="3000" dirty="0"/>
          </a:p>
        </p:txBody>
      </p:sp>
      <p:sp>
        <p:nvSpPr>
          <p:cNvPr id="4" name="Text 2"/>
          <p:cNvSpPr txBox="1"/>
          <p:nvPr/>
        </p:nvSpPr>
        <p:spPr>
          <a:xfrm>
            <a:off x="502920" y="1234440"/>
            <a:ext cx="667512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Monthly ride volume — booked vs. completed</a:t>
            </a:r>
            <a:endParaRPr lang="en-US" sz="1250" dirty="0"/>
          </a:p>
        </p:txBody>
      </p:sp>
      <p:graphicFrame>
        <p:nvGraphicFramePr>
          <p:cNvPr id="5" name="Chart 0"/>
          <p:cNvGraphicFramePr/>
          <p:nvPr/>
        </p:nvGraphicFramePr>
        <p:xfrm>
          <a:off x="411480" y="1517904"/>
          <a:ext cx="6949440" cy="248716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726680" y="1234440"/>
            <a:ext cx="393192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Booking status breakdown</a:t>
            </a:r>
            <a:endParaRPr lang="en-US" sz="1250" dirty="0"/>
          </a:p>
        </p:txBody>
      </p:sp>
      <p:graphicFrame>
        <p:nvGraphicFramePr>
          <p:cNvPr id="7" name="Chart 1"/>
          <p:cNvGraphicFramePr/>
          <p:nvPr>
            <p:extLst>
              <p:ext uri="{D42A27DB-BD31-4B8C-83A1-F6EECF244321}">
                <p14:modId xmlns:p14="http://schemas.microsoft.com/office/powerpoint/2010/main" val="1848383684"/>
              </p:ext>
            </p:extLst>
          </p:nvPr>
        </p:nvGraphicFramePr>
        <p:xfrm>
          <a:off x="7543800" y="1463040"/>
          <a:ext cx="416052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02920" y="4224528"/>
            <a:ext cx="2084832" cy="749808"/>
          </a:xfrm>
          <a:prstGeom prst="roundRect">
            <a:avLst>
              <a:gd name="adj" fmla="val 7317"/>
            </a:avLst>
          </a:prstGeom>
          <a:solidFill>
            <a:srgbClr val="F4F2FC"/>
          </a:solidFill>
          <a:ln w="12700">
            <a:solidFill>
              <a:srgbClr val="E8E4F6"/>
            </a:solidFill>
            <a:prstDash val="solid"/>
          </a:ln>
        </p:spPr>
      </p:sp>
      <p:sp>
        <p:nvSpPr>
          <p:cNvPr id="9" name="Text 5"/>
          <p:cNvSpPr txBox="1"/>
          <p:nvPr/>
        </p:nvSpPr>
        <p:spPr>
          <a:xfrm>
            <a:off x="521208" y="4352544"/>
            <a:ext cx="2048256" cy="389900"/>
          </a:xfrm>
          <a:prstGeom prst="rect">
            <a:avLst/>
          </a:prstGeom>
          <a:noFill/>
          <a:ln/>
        </p:spPr>
        <p:txBody>
          <a:bodyPr wrap="square" lIns="0" tIns="0" rIns="0" bIns="0" rtlCol="0" anchor="ctr"/>
          <a:lstStyle/>
          <a:p>
            <a:pPr marL="0" indent="0" algn="ctr">
              <a:buNone/>
            </a:pPr>
            <a:r>
              <a:rPr lang="en-US" sz="1900" b="1" dirty="0">
                <a:solidFill>
                  <a:srgbClr val="1B1140"/>
                </a:solidFill>
                <a:latin typeface="Cambria" pitchFamily="34" charset="0"/>
                <a:ea typeface="Cambria" pitchFamily="34" charset="-122"/>
                <a:cs typeface="Cambria" pitchFamily="34" charset="-120"/>
              </a:rPr>
              <a:t>93,000</a:t>
            </a:r>
            <a:endParaRPr lang="en-US" sz="1900" dirty="0"/>
          </a:p>
        </p:txBody>
      </p:sp>
      <p:sp>
        <p:nvSpPr>
          <p:cNvPr id="10" name="Text 6"/>
          <p:cNvSpPr txBox="1"/>
          <p:nvPr/>
        </p:nvSpPr>
        <p:spPr>
          <a:xfrm>
            <a:off x="557784" y="4674413"/>
            <a:ext cx="1975104" cy="239939"/>
          </a:xfrm>
          <a:prstGeom prst="rect">
            <a:avLst/>
          </a:prstGeom>
          <a:noFill/>
          <a:ln/>
        </p:spPr>
        <p:txBody>
          <a:bodyPr wrap="square" lIns="0" tIns="0" rIns="0" bIns="0" rtlCol="0" anchor="t"/>
          <a:lstStyle/>
          <a:p>
            <a:pPr marL="0" indent="0" algn="ctr">
              <a:buNone/>
            </a:pPr>
            <a:r>
              <a:rPr lang="en-US" sz="950" dirty="0">
                <a:solidFill>
                  <a:srgbClr val="5B5670"/>
                </a:solidFill>
                <a:latin typeface="Calibri" pitchFamily="34" charset="0"/>
                <a:ea typeface="Calibri" pitchFamily="34" charset="-122"/>
                <a:cs typeface="Calibri" pitchFamily="34" charset="-120"/>
              </a:rPr>
              <a:t>Completed  62.0%</a:t>
            </a:r>
            <a:endParaRPr lang="en-US" sz="950" dirty="0"/>
          </a:p>
        </p:txBody>
      </p:sp>
      <p:sp>
        <p:nvSpPr>
          <p:cNvPr id="11" name="Shape 7"/>
          <p:cNvSpPr/>
          <p:nvPr/>
        </p:nvSpPr>
        <p:spPr>
          <a:xfrm>
            <a:off x="2743200" y="4224528"/>
            <a:ext cx="2084832" cy="749808"/>
          </a:xfrm>
          <a:prstGeom prst="roundRect">
            <a:avLst>
              <a:gd name="adj" fmla="val 7317"/>
            </a:avLst>
          </a:prstGeom>
          <a:solidFill>
            <a:srgbClr val="F4F2FC"/>
          </a:solidFill>
          <a:ln w="12700">
            <a:solidFill>
              <a:srgbClr val="E8E4F6"/>
            </a:solidFill>
            <a:prstDash val="solid"/>
          </a:ln>
        </p:spPr>
      </p:sp>
      <p:sp>
        <p:nvSpPr>
          <p:cNvPr id="12" name="Text 8"/>
          <p:cNvSpPr txBox="1"/>
          <p:nvPr/>
        </p:nvSpPr>
        <p:spPr>
          <a:xfrm>
            <a:off x="2761488" y="4352544"/>
            <a:ext cx="2048256" cy="389900"/>
          </a:xfrm>
          <a:prstGeom prst="rect">
            <a:avLst/>
          </a:prstGeom>
          <a:noFill/>
          <a:ln/>
        </p:spPr>
        <p:txBody>
          <a:bodyPr wrap="square" lIns="0" tIns="0" rIns="0" bIns="0" rtlCol="0" anchor="ctr"/>
          <a:lstStyle/>
          <a:p>
            <a:pPr marL="0" indent="0" algn="ctr">
              <a:buNone/>
            </a:pPr>
            <a:r>
              <a:rPr lang="en-US" sz="1900" b="1" dirty="0">
                <a:solidFill>
                  <a:srgbClr val="1B1140"/>
                </a:solidFill>
                <a:latin typeface="Cambria" pitchFamily="34" charset="0"/>
                <a:ea typeface="Cambria" pitchFamily="34" charset="-122"/>
                <a:cs typeface="Cambria" pitchFamily="34" charset="-120"/>
              </a:rPr>
              <a:t>27,000</a:t>
            </a:r>
            <a:endParaRPr lang="en-US" sz="1900" dirty="0"/>
          </a:p>
        </p:txBody>
      </p:sp>
      <p:sp>
        <p:nvSpPr>
          <p:cNvPr id="13" name="Text 9"/>
          <p:cNvSpPr txBox="1"/>
          <p:nvPr/>
        </p:nvSpPr>
        <p:spPr>
          <a:xfrm>
            <a:off x="2798064" y="4674413"/>
            <a:ext cx="1975104" cy="239939"/>
          </a:xfrm>
          <a:prstGeom prst="rect">
            <a:avLst/>
          </a:prstGeom>
          <a:noFill/>
          <a:ln/>
        </p:spPr>
        <p:txBody>
          <a:bodyPr wrap="square" lIns="0" tIns="0" rIns="0" bIns="0" rtlCol="0" anchor="t"/>
          <a:lstStyle/>
          <a:p>
            <a:pPr marL="0" indent="0" algn="ctr">
              <a:buNone/>
            </a:pPr>
            <a:r>
              <a:rPr lang="en-US" sz="950" dirty="0">
                <a:solidFill>
                  <a:srgbClr val="5B5670"/>
                </a:solidFill>
                <a:latin typeface="Calibri" pitchFamily="34" charset="0"/>
                <a:ea typeface="Calibri" pitchFamily="34" charset="-122"/>
                <a:cs typeface="Calibri" pitchFamily="34" charset="-120"/>
              </a:rPr>
              <a:t>Driver cancels  18.0%</a:t>
            </a:r>
            <a:endParaRPr lang="en-US" sz="950" dirty="0"/>
          </a:p>
        </p:txBody>
      </p:sp>
      <p:sp>
        <p:nvSpPr>
          <p:cNvPr id="14" name="Shape 10"/>
          <p:cNvSpPr/>
          <p:nvPr/>
        </p:nvSpPr>
        <p:spPr>
          <a:xfrm>
            <a:off x="4983480" y="4224528"/>
            <a:ext cx="2084832" cy="749808"/>
          </a:xfrm>
          <a:prstGeom prst="roundRect">
            <a:avLst>
              <a:gd name="adj" fmla="val 7317"/>
            </a:avLst>
          </a:prstGeom>
          <a:solidFill>
            <a:srgbClr val="F4F2FC"/>
          </a:solidFill>
          <a:ln w="12700">
            <a:solidFill>
              <a:srgbClr val="E8E4F6"/>
            </a:solidFill>
            <a:prstDash val="solid"/>
          </a:ln>
        </p:spPr>
      </p:sp>
      <p:sp>
        <p:nvSpPr>
          <p:cNvPr id="15" name="Text 11"/>
          <p:cNvSpPr txBox="1"/>
          <p:nvPr/>
        </p:nvSpPr>
        <p:spPr>
          <a:xfrm>
            <a:off x="5001768" y="4352544"/>
            <a:ext cx="2048256" cy="389900"/>
          </a:xfrm>
          <a:prstGeom prst="rect">
            <a:avLst/>
          </a:prstGeom>
          <a:noFill/>
          <a:ln/>
        </p:spPr>
        <p:txBody>
          <a:bodyPr wrap="square" lIns="0" tIns="0" rIns="0" bIns="0" rtlCol="0" anchor="ctr"/>
          <a:lstStyle/>
          <a:p>
            <a:pPr marL="0" indent="0" algn="ctr">
              <a:buNone/>
            </a:pPr>
            <a:r>
              <a:rPr lang="en-US" sz="1900" b="1" dirty="0">
                <a:solidFill>
                  <a:srgbClr val="1B1140"/>
                </a:solidFill>
                <a:latin typeface="Cambria" pitchFamily="34" charset="0"/>
                <a:ea typeface="Cambria" pitchFamily="34" charset="-122"/>
                <a:cs typeface="Cambria" pitchFamily="34" charset="-120"/>
              </a:rPr>
              <a:t>10,500</a:t>
            </a:r>
            <a:endParaRPr lang="en-US" sz="1900" dirty="0"/>
          </a:p>
        </p:txBody>
      </p:sp>
      <p:sp>
        <p:nvSpPr>
          <p:cNvPr id="16" name="Text 12"/>
          <p:cNvSpPr txBox="1"/>
          <p:nvPr/>
        </p:nvSpPr>
        <p:spPr>
          <a:xfrm>
            <a:off x="5038344" y="4674413"/>
            <a:ext cx="1975104" cy="239939"/>
          </a:xfrm>
          <a:prstGeom prst="rect">
            <a:avLst/>
          </a:prstGeom>
          <a:noFill/>
          <a:ln/>
        </p:spPr>
        <p:txBody>
          <a:bodyPr wrap="square" lIns="0" tIns="0" rIns="0" bIns="0" rtlCol="0" anchor="t"/>
          <a:lstStyle/>
          <a:p>
            <a:pPr marL="0" indent="0" algn="ctr">
              <a:buNone/>
            </a:pPr>
            <a:r>
              <a:rPr lang="en-US" sz="950" dirty="0">
                <a:solidFill>
                  <a:srgbClr val="5B5670"/>
                </a:solidFill>
                <a:latin typeface="Calibri" pitchFamily="34" charset="0"/>
                <a:ea typeface="Calibri" pitchFamily="34" charset="-122"/>
                <a:cs typeface="Calibri" pitchFamily="34" charset="-120"/>
              </a:rPr>
              <a:t>Customer cancels  7.0%</a:t>
            </a:r>
            <a:endParaRPr lang="en-US" sz="950" dirty="0"/>
          </a:p>
        </p:txBody>
      </p:sp>
      <p:sp>
        <p:nvSpPr>
          <p:cNvPr id="17" name="Shape 13"/>
          <p:cNvSpPr/>
          <p:nvPr/>
        </p:nvSpPr>
        <p:spPr>
          <a:xfrm>
            <a:off x="7223760" y="4224528"/>
            <a:ext cx="2084832" cy="749808"/>
          </a:xfrm>
          <a:prstGeom prst="roundRect">
            <a:avLst>
              <a:gd name="adj" fmla="val 7317"/>
            </a:avLst>
          </a:prstGeom>
          <a:solidFill>
            <a:srgbClr val="F4F2FC"/>
          </a:solidFill>
          <a:ln w="12700">
            <a:solidFill>
              <a:srgbClr val="E8E4F6"/>
            </a:solidFill>
            <a:prstDash val="solid"/>
          </a:ln>
        </p:spPr>
      </p:sp>
      <p:sp>
        <p:nvSpPr>
          <p:cNvPr id="18" name="Text 14"/>
          <p:cNvSpPr txBox="1"/>
          <p:nvPr/>
        </p:nvSpPr>
        <p:spPr>
          <a:xfrm>
            <a:off x="7242048" y="4352544"/>
            <a:ext cx="2048256" cy="389900"/>
          </a:xfrm>
          <a:prstGeom prst="rect">
            <a:avLst/>
          </a:prstGeom>
          <a:noFill/>
          <a:ln/>
        </p:spPr>
        <p:txBody>
          <a:bodyPr wrap="square" lIns="0" tIns="0" rIns="0" bIns="0" rtlCol="0" anchor="ctr"/>
          <a:lstStyle/>
          <a:p>
            <a:pPr marL="0" indent="0" algn="ctr">
              <a:buNone/>
            </a:pPr>
            <a:r>
              <a:rPr lang="en-US" sz="1900" b="1" dirty="0">
                <a:solidFill>
                  <a:srgbClr val="1B1140"/>
                </a:solidFill>
                <a:latin typeface="Cambria" pitchFamily="34" charset="0"/>
                <a:ea typeface="Cambria" pitchFamily="34" charset="-122"/>
                <a:cs typeface="Cambria" pitchFamily="34" charset="-120"/>
              </a:rPr>
              <a:t>10,500</a:t>
            </a:r>
            <a:endParaRPr lang="en-US" sz="1900" dirty="0"/>
          </a:p>
        </p:txBody>
      </p:sp>
      <p:sp>
        <p:nvSpPr>
          <p:cNvPr id="19" name="Text 15"/>
          <p:cNvSpPr txBox="1"/>
          <p:nvPr/>
        </p:nvSpPr>
        <p:spPr>
          <a:xfrm>
            <a:off x="7278624" y="4674413"/>
            <a:ext cx="1975104" cy="239939"/>
          </a:xfrm>
          <a:prstGeom prst="rect">
            <a:avLst/>
          </a:prstGeom>
          <a:noFill/>
          <a:ln/>
        </p:spPr>
        <p:txBody>
          <a:bodyPr wrap="square" lIns="0" tIns="0" rIns="0" bIns="0" rtlCol="0" anchor="t"/>
          <a:lstStyle/>
          <a:p>
            <a:pPr marL="0" indent="0" algn="ctr">
              <a:buNone/>
            </a:pPr>
            <a:r>
              <a:rPr lang="en-US" sz="950" dirty="0">
                <a:solidFill>
                  <a:srgbClr val="5B5670"/>
                </a:solidFill>
                <a:latin typeface="Calibri" pitchFamily="34" charset="0"/>
                <a:ea typeface="Calibri" pitchFamily="34" charset="-122"/>
                <a:cs typeface="Calibri" pitchFamily="34" charset="-120"/>
              </a:rPr>
              <a:t>No driver found  7.0%</a:t>
            </a:r>
            <a:endParaRPr lang="en-US" sz="950" dirty="0"/>
          </a:p>
        </p:txBody>
      </p:sp>
      <p:sp>
        <p:nvSpPr>
          <p:cNvPr id="20" name="Shape 16"/>
          <p:cNvSpPr/>
          <p:nvPr/>
        </p:nvSpPr>
        <p:spPr>
          <a:xfrm>
            <a:off x="9464040" y="4224528"/>
            <a:ext cx="2084832" cy="749808"/>
          </a:xfrm>
          <a:prstGeom prst="roundRect">
            <a:avLst>
              <a:gd name="adj" fmla="val 7317"/>
            </a:avLst>
          </a:prstGeom>
          <a:solidFill>
            <a:srgbClr val="F4F2FC"/>
          </a:solidFill>
          <a:ln w="12700">
            <a:solidFill>
              <a:srgbClr val="E8E4F6"/>
            </a:solidFill>
            <a:prstDash val="solid"/>
          </a:ln>
        </p:spPr>
      </p:sp>
      <p:sp>
        <p:nvSpPr>
          <p:cNvPr id="21" name="Text 17"/>
          <p:cNvSpPr txBox="1"/>
          <p:nvPr/>
        </p:nvSpPr>
        <p:spPr>
          <a:xfrm>
            <a:off x="9482328" y="4352544"/>
            <a:ext cx="2048256" cy="389900"/>
          </a:xfrm>
          <a:prstGeom prst="rect">
            <a:avLst/>
          </a:prstGeom>
          <a:noFill/>
          <a:ln/>
        </p:spPr>
        <p:txBody>
          <a:bodyPr wrap="square" lIns="0" tIns="0" rIns="0" bIns="0" rtlCol="0" anchor="ctr"/>
          <a:lstStyle/>
          <a:p>
            <a:pPr marL="0" indent="0" algn="ctr">
              <a:buNone/>
            </a:pPr>
            <a:r>
              <a:rPr lang="en-US" sz="1900" b="1" dirty="0">
                <a:solidFill>
                  <a:srgbClr val="1B1140"/>
                </a:solidFill>
                <a:latin typeface="Cambria" pitchFamily="34" charset="0"/>
                <a:ea typeface="Cambria" pitchFamily="34" charset="-122"/>
                <a:cs typeface="Cambria" pitchFamily="34" charset="-120"/>
              </a:rPr>
              <a:t>9,000</a:t>
            </a:r>
            <a:endParaRPr lang="en-US" sz="1900" dirty="0"/>
          </a:p>
        </p:txBody>
      </p:sp>
      <p:sp>
        <p:nvSpPr>
          <p:cNvPr id="22" name="Text 18"/>
          <p:cNvSpPr txBox="1"/>
          <p:nvPr/>
        </p:nvSpPr>
        <p:spPr>
          <a:xfrm>
            <a:off x="9518904" y="4674413"/>
            <a:ext cx="1975104" cy="239939"/>
          </a:xfrm>
          <a:prstGeom prst="rect">
            <a:avLst/>
          </a:prstGeom>
          <a:noFill/>
          <a:ln/>
        </p:spPr>
        <p:txBody>
          <a:bodyPr wrap="square" lIns="0" tIns="0" rIns="0" bIns="0" rtlCol="0" anchor="t"/>
          <a:lstStyle/>
          <a:p>
            <a:pPr marL="0" indent="0" algn="ctr">
              <a:buNone/>
            </a:pPr>
            <a:r>
              <a:rPr lang="en-US" sz="950" dirty="0">
                <a:solidFill>
                  <a:srgbClr val="5B5670"/>
                </a:solidFill>
                <a:latin typeface="Calibri" pitchFamily="34" charset="0"/>
                <a:ea typeface="Calibri" pitchFamily="34" charset="-122"/>
                <a:cs typeface="Calibri" pitchFamily="34" charset="-120"/>
              </a:rPr>
              <a:t>Incomplete  6.0%</a:t>
            </a:r>
            <a:endParaRPr lang="en-US" sz="950" dirty="0"/>
          </a:p>
        </p:txBody>
      </p:sp>
      <p:sp>
        <p:nvSpPr>
          <p:cNvPr id="23" name="Shape 19"/>
          <p:cNvSpPr/>
          <p:nvPr/>
        </p:nvSpPr>
        <p:spPr>
          <a:xfrm>
            <a:off x="502920" y="5138928"/>
            <a:ext cx="11155680" cy="1170432"/>
          </a:xfrm>
          <a:prstGeom prst="roundRect">
            <a:avLst>
              <a:gd name="adj" fmla="val 3906"/>
            </a:avLst>
          </a:prstGeom>
          <a:solidFill>
            <a:srgbClr val="F4F2FC"/>
          </a:solidFill>
          <a:ln w="12700">
            <a:solidFill>
              <a:srgbClr val="F4F2FC"/>
            </a:solidFill>
            <a:prstDash val="solid"/>
          </a:ln>
        </p:spPr>
      </p:sp>
      <p:sp>
        <p:nvSpPr>
          <p:cNvPr id="24" name="Shape 20"/>
          <p:cNvSpPr/>
          <p:nvPr/>
        </p:nvSpPr>
        <p:spPr>
          <a:xfrm>
            <a:off x="704088" y="5321808"/>
            <a:ext cx="274320" cy="274320"/>
          </a:xfrm>
          <a:prstGeom prst="ellipse">
            <a:avLst/>
          </a:prstGeom>
          <a:solidFill>
            <a:srgbClr val="4A3AA7"/>
          </a:solidFill>
          <a:ln w="12700">
            <a:solidFill>
              <a:srgbClr val="4A3AA7"/>
            </a:solidFill>
            <a:prstDash val="solid"/>
          </a:ln>
        </p:spPr>
      </p:sp>
      <p:sp>
        <p:nvSpPr>
          <p:cNvPr id="25" name="Text 21"/>
          <p:cNvSpPr txBox="1"/>
          <p:nvPr/>
        </p:nvSpPr>
        <p:spPr>
          <a:xfrm>
            <a:off x="704088" y="5321808"/>
            <a:ext cx="274320" cy="274320"/>
          </a:xfrm>
          <a:prstGeom prst="rect">
            <a:avLst/>
          </a:prstGeom>
          <a:noFill/>
          <a:ln/>
        </p:spPr>
        <p:txBody>
          <a:bodyPr wrap="square" lIns="0" tIns="0" rIns="0" bIns="0" rtlCol="0" anchor="ctr"/>
          <a:lstStyle/>
          <a:p>
            <a:pPr marL="0" indent="0" algn="ctr">
              <a:buNone/>
            </a:pPr>
            <a:r>
              <a:rPr lang="en-US" sz="1400" b="1" i="1" dirty="0">
                <a:solidFill>
                  <a:srgbClr val="FFFFFF"/>
                </a:solidFill>
                <a:latin typeface="Cambria" pitchFamily="34" charset="0"/>
                <a:ea typeface="Cambria" pitchFamily="34" charset="-122"/>
                <a:cs typeface="Cambria" pitchFamily="34" charset="-120"/>
              </a:rPr>
              <a:t>i</a:t>
            </a:r>
            <a:endParaRPr lang="en-US" sz="1400" dirty="0"/>
          </a:p>
        </p:txBody>
      </p:sp>
      <p:sp>
        <p:nvSpPr>
          <p:cNvPr id="26" name="Text 22"/>
          <p:cNvSpPr txBox="1"/>
          <p:nvPr/>
        </p:nvSpPr>
        <p:spPr>
          <a:xfrm>
            <a:off x="1097280" y="5285232"/>
            <a:ext cx="1037844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Insight — the loss is on the supply side, and it is constant all year</a:t>
            </a:r>
            <a:endParaRPr lang="en-US" sz="1250" dirty="0"/>
          </a:p>
        </p:txBody>
      </p:sp>
      <p:sp>
        <p:nvSpPr>
          <p:cNvPr id="27" name="Text 23"/>
          <p:cNvSpPr txBox="1"/>
          <p:nvPr/>
        </p:nvSpPr>
        <p:spPr>
          <a:xfrm>
            <a:off x="1097280" y="5559552"/>
            <a:ext cx="10378440" cy="621792"/>
          </a:xfrm>
          <a:prstGeom prst="rect">
            <a:avLst/>
          </a:prstGeom>
          <a:noFill/>
          <a:ln/>
        </p:spPr>
        <p:txBody>
          <a:bodyPr wrap="square" lIns="0" tIns="0" rIns="0" bIns="0" rtlCol="0" anchor="t"/>
          <a:lstStyle/>
          <a:p>
            <a:pPr marL="0" indent="0">
              <a:lnSpc>
                <a:spcPct val="115000"/>
              </a:lnSpc>
              <a:buNone/>
            </a:pPr>
            <a:r>
              <a:rPr lang="en-US" sz="1150" dirty="0">
                <a:solidFill>
                  <a:srgbClr val="5B5670"/>
                </a:solidFill>
                <a:latin typeface="Calibri" pitchFamily="34" charset="0"/>
                <a:ea typeface="Calibri" pitchFamily="34" charset="-122"/>
                <a:cs typeface="Calibri" pitchFamily="34" charset="-120"/>
              </a:rPr>
              <a:t>Volume never moves more than ±4% month to month, so the 38% shortfall is not a demand or seasonality problem. Driver-side failures (27,000 cancellations + 10,500 unfulfilled requests = 25.0% of bookings) outweigh customer cancellations 3.6 to 1. A completion rate that never breaks 62% in any month points to structural driver supply and acceptance behaviour rather than isolated incidents.</a:t>
            </a:r>
            <a:endParaRPr lang="en-US" sz="1150" dirty="0"/>
          </a:p>
        </p:txBody>
      </p:sp>
      <p:sp>
        <p:nvSpPr>
          <p:cNvPr id="28" name="Text 24"/>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29" name="Text 25"/>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VEHICLE TYPE ANALYSIS</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Five vehicle types carry 90% of distance</a:t>
            </a:r>
            <a:endParaRPr lang="en-US" sz="3000" dirty="0"/>
          </a:p>
        </p:txBody>
      </p:sp>
      <p:sp>
        <p:nvSpPr>
          <p:cNvPr id="4" name="Text 2"/>
          <p:cNvSpPr txBox="1"/>
          <p:nvPr/>
        </p:nvSpPr>
        <p:spPr>
          <a:xfrm>
            <a:off x="502920" y="1234440"/>
            <a:ext cx="640080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Top 5 vehicle types by total ride distance (km)</a:t>
            </a:r>
            <a:endParaRPr lang="en-US" sz="1250" dirty="0"/>
          </a:p>
        </p:txBody>
      </p:sp>
      <p:graphicFrame>
        <p:nvGraphicFramePr>
          <p:cNvPr id="5" name="Chart 0"/>
          <p:cNvGraphicFramePr/>
          <p:nvPr/>
        </p:nvGraphicFramePr>
        <p:xfrm>
          <a:off x="411480" y="1517904"/>
          <a:ext cx="640080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086600" y="1517904"/>
          <a:ext cx="4572000" cy="2304288"/>
        </p:xfrm>
        <a:graphic>
          <a:graphicData uri="http://schemas.openxmlformats.org/drawingml/2006/table">
            <a:tbl>
              <a:tblPr/>
              <a:tblGrid>
                <a:gridCol w="15544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29184">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Vehicle type</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Distance (km)</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Share</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Completion</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184">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Auto</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625,616</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24.9%</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61.9%</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Go Mini</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501,201</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19.9%</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62.2%</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Go Sedan</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450,794</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17.9%</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61.4%</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Bike</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378,666</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15.1%</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62.3%</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Premier Sedan</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302,936</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62.1%</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Top 5 combined</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2,259,212</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89.9%</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A1A1A"/>
                          </a:solidFill>
                          <a:latin typeface="Calibri" pitchFamily="34" charset="0"/>
                          <a:ea typeface="Calibri" pitchFamily="34" charset="-122"/>
                          <a:cs typeface="Calibri" pitchFamily="34" charset="-120"/>
                        </a:rPr>
                        <a:t>61.9%</a:t>
                      </a:r>
                      <a:endParaRPr lang="en-US" sz="1050" dirty="0">
                        <a:latin typeface="Calibri" charset="0"/>
                        <a:ea typeface="Calibri" charset="0"/>
                        <a:cs typeface="Calibri" charset="0"/>
                      </a:endParaRPr>
                    </a:p>
                  </a:txBody>
                  <a:tcPr anchor="ctr">
                    <a:lnL w="12700" cap="flat" cmpd="sng" algn="ctr">
                      <a:solidFill>
                        <a:srgbClr val="E8E4F6"/>
                      </a:solidFill>
                      <a:prstDash val="solid"/>
                      <a:round/>
                      <a:headEnd type="none" w="med" len="med"/>
                      <a:tailEnd type="none" w="med" len="med"/>
                    </a:lnL>
                    <a:lnR w="12700" cap="flat" cmpd="sng" algn="ctr">
                      <a:solidFill>
                        <a:srgbClr val="E8E4F6"/>
                      </a:solidFill>
                      <a:prstDash val="solid"/>
                      <a:round/>
                      <a:headEnd type="none" w="med" len="med"/>
                      <a:tailEnd type="none" w="med" len="med"/>
                    </a:lnR>
                    <a:lnT w="12700" cap="flat" cmpd="sng" algn="ctr">
                      <a:solidFill>
                        <a:srgbClr val="E8E4F6"/>
                      </a:solidFill>
                      <a:prstDash val="solid"/>
                      <a:round/>
                      <a:headEnd type="none" w="med" len="med"/>
                      <a:tailEnd type="none" w="med" len="med"/>
                    </a:lnT>
                    <a:lnB w="12700" cap="flat" cmpd="sng" algn="ctr">
                      <a:solidFill>
                        <a:srgbClr val="E8E4F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3"/>
          <p:cNvSpPr/>
          <p:nvPr/>
        </p:nvSpPr>
        <p:spPr>
          <a:xfrm>
            <a:off x="7086600" y="1517904"/>
            <a:ext cx="4572000" cy="329184"/>
          </a:xfrm>
          <a:prstGeom prst="rect">
            <a:avLst/>
          </a:prstGeom>
          <a:solidFill>
            <a:srgbClr val="1B1140"/>
          </a:solidFill>
          <a:ln w="12700">
            <a:solidFill>
              <a:srgbClr val="1B1140"/>
            </a:solidFill>
            <a:prstDash val="solid"/>
          </a:ln>
        </p:spPr>
      </p:sp>
      <p:sp>
        <p:nvSpPr>
          <p:cNvPr id="8" name="Text 4"/>
          <p:cNvSpPr txBox="1"/>
          <p:nvPr/>
        </p:nvSpPr>
        <p:spPr>
          <a:xfrm>
            <a:off x="7159752" y="1517904"/>
            <a:ext cx="1463040" cy="329184"/>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Vehicle type</a:t>
            </a:r>
            <a:endParaRPr lang="en-US" sz="1050" dirty="0"/>
          </a:p>
        </p:txBody>
      </p:sp>
      <p:sp>
        <p:nvSpPr>
          <p:cNvPr id="9" name="Text 5"/>
          <p:cNvSpPr txBox="1"/>
          <p:nvPr/>
        </p:nvSpPr>
        <p:spPr>
          <a:xfrm>
            <a:off x="8641080" y="1517904"/>
            <a:ext cx="1161288" cy="329184"/>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Distance (km)</a:t>
            </a:r>
            <a:endParaRPr lang="en-US" sz="1050" dirty="0"/>
          </a:p>
        </p:txBody>
      </p:sp>
      <p:sp>
        <p:nvSpPr>
          <p:cNvPr id="10" name="Text 6"/>
          <p:cNvSpPr txBox="1"/>
          <p:nvPr/>
        </p:nvSpPr>
        <p:spPr>
          <a:xfrm>
            <a:off x="9875520" y="1517904"/>
            <a:ext cx="749808" cy="329184"/>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Share</a:t>
            </a:r>
            <a:endParaRPr lang="en-US" sz="1050" dirty="0"/>
          </a:p>
        </p:txBody>
      </p:sp>
      <p:sp>
        <p:nvSpPr>
          <p:cNvPr id="11" name="Text 7"/>
          <p:cNvSpPr txBox="1"/>
          <p:nvPr/>
        </p:nvSpPr>
        <p:spPr>
          <a:xfrm>
            <a:off x="10698480" y="1517904"/>
            <a:ext cx="886968" cy="329184"/>
          </a:xfrm>
          <a:prstGeom prst="rect">
            <a:avLst/>
          </a:prstGeom>
          <a:noFill/>
          <a:ln/>
        </p:spPr>
        <p:txBody>
          <a:bodyPr wrap="square" lIns="0" tIns="0" rIns="0" bIns="0"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Completion</a:t>
            </a:r>
            <a:endParaRPr lang="en-US" sz="1050" dirty="0"/>
          </a:p>
        </p:txBody>
      </p:sp>
      <p:sp>
        <p:nvSpPr>
          <p:cNvPr id="12" name="Shape 8"/>
          <p:cNvSpPr/>
          <p:nvPr/>
        </p:nvSpPr>
        <p:spPr>
          <a:xfrm>
            <a:off x="7086600" y="3493008"/>
            <a:ext cx="4572000" cy="329184"/>
          </a:xfrm>
          <a:prstGeom prst="rect">
            <a:avLst/>
          </a:prstGeom>
          <a:solidFill>
            <a:srgbClr val="F4F2FC"/>
          </a:solidFill>
          <a:ln w="12700">
            <a:solidFill>
              <a:srgbClr val="D9D2F2"/>
            </a:solidFill>
            <a:prstDash val="solid"/>
          </a:ln>
        </p:spPr>
      </p:sp>
      <p:sp>
        <p:nvSpPr>
          <p:cNvPr id="13" name="Text 9"/>
          <p:cNvSpPr txBox="1"/>
          <p:nvPr/>
        </p:nvSpPr>
        <p:spPr>
          <a:xfrm>
            <a:off x="7159752" y="3493008"/>
            <a:ext cx="1463040" cy="329184"/>
          </a:xfrm>
          <a:prstGeom prst="rect">
            <a:avLst/>
          </a:prstGeom>
          <a:noFill/>
          <a:ln/>
        </p:spPr>
        <p:txBody>
          <a:bodyPr wrap="square" lIns="0" tIns="0" rIns="0" bIns="0" rtlCol="0" anchor="ctr"/>
          <a:lstStyle/>
          <a:p>
            <a:pPr marL="0" indent="0">
              <a:buNone/>
            </a:pPr>
            <a:r>
              <a:rPr lang="en-US" sz="1050" b="1" dirty="0">
                <a:solidFill>
                  <a:srgbClr val="1B1140"/>
                </a:solidFill>
                <a:latin typeface="Calibri" pitchFamily="34" charset="0"/>
                <a:ea typeface="Calibri" pitchFamily="34" charset="-122"/>
                <a:cs typeface="Calibri" pitchFamily="34" charset="-120"/>
              </a:rPr>
              <a:t>Top 5 combined</a:t>
            </a:r>
            <a:endParaRPr lang="en-US" sz="1050" dirty="0"/>
          </a:p>
        </p:txBody>
      </p:sp>
      <p:sp>
        <p:nvSpPr>
          <p:cNvPr id="14" name="Text 10"/>
          <p:cNvSpPr txBox="1"/>
          <p:nvPr/>
        </p:nvSpPr>
        <p:spPr>
          <a:xfrm>
            <a:off x="8641080" y="3493008"/>
            <a:ext cx="1161288" cy="329184"/>
          </a:xfrm>
          <a:prstGeom prst="rect">
            <a:avLst/>
          </a:prstGeom>
          <a:noFill/>
          <a:ln/>
        </p:spPr>
        <p:txBody>
          <a:bodyPr wrap="square" lIns="0" tIns="0" rIns="0" bIns="0" rtlCol="0" anchor="ctr"/>
          <a:lstStyle/>
          <a:p>
            <a:pPr marL="0" indent="0" algn="r">
              <a:buNone/>
            </a:pPr>
            <a:r>
              <a:rPr lang="en-US" sz="1050" b="1" dirty="0">
                <a:solidFill>
                  <a:srgbClr val="1B1140"/>
                </a:solidFill>
                <a:latin typeface="Calibri" pitchFamily="34" charset="0"/>
                <a:ea typeface="Calibri" pitchFamily="34" charset="-122"/>
                <a:cs typeface="Calibri" pitchFamily="34" charset="-120"/>
              </a:rPr>
              <a:t>2,259,212</a:t>
            </a:r>
            <a:endParaRPr lang="en-US" sz="1050" dirty="0"/>
          </a:p>
        </p:txBody>
      </p:sp>
      <p:sp>
        <p:nvSpPr>
          <p:cNvPr id="15" name="Text 11"/>
          <p:cNvSpPr txBox="1"/>
          <p:nvPr/>
        </p:nvSpPr>
        <p:spPr>
          <a:xfrm>
            <a:off x="9875520" y="3493008"/>
            <a:ext cx="749808" cy="329184"/>
          </a:xfrm>
          <a:prstGeom prst="rect">
            <a:avLst/>
          </a:prstGeom>
          <a:noFill/>
          <a:ln/>
        </p:spPr>
        <p:txBody>
          <a:bodyPr wrap="square" lIns="0" tIns="0" rIns="0" bIns="0" rtlCol="0" anchor="ctr"/>
          <a:lstStyle/>
          <a:p>
            <a:pPr marL="0" indent="0" algn="r">
              <a:buNone/>
            </a:pPr>
            <a:r>
              <a:rPr lang="en-US" sz="1050" b="1" dirty="0">
                <a:solidFill>
                  <a:srgbClr val="1B1140"/>
                </a:solidFill>
                <a:latin typeface="Calibri" pitchFamily="34" charset="0"/>
                <a:ea typeface="Calibri" pitchFamily="34" charset="-122"/>
                <a:cs typeface="Calibri" pitchFamily="34" charset="-120"/>
              </a:rPr>
              <a:t>89.9%</a:t>
            </a:r>
            <a:endParaRPr lang="en-US" sz="1050" dirty="0"/>
          </a:p>
        </p:txBody>
      </p:sp>
      <p:sp>
        <p:nvSpPr>
          <p:cNvPr id="16" name="Text 12"/>
          <p:cNvSpPr txBox="1"/>
          <p:nvPr/>
        </p:nvSpPr>
        <p:spPr>
          <a:xfrm>
            <a:off x="10698480" y="3493008"/>
            <a:ext cx="886968" cy="329184"/>
          </a:xfrm>
          <a:prstGeom prst="rect">
            <a:avLst/>
          </a:prstGeom>
          <a:noFill/>
          <a:ln/>
        </p:spPr>
        <p:txBody>
          <a:bodyPr wrap="square" lIns="0" tIns="0" rIns="0" bIns="0" rtlCol="0" anchor="ctr"/>
          <a:lstStyle/>
          <a:p>
            <a:pPr marL="0" indent="0" algn="r">
              <a:buNone/>
            </a:pPr>
            <a:r>
              <a:rPr lang="en-US" sz="1050" b="1" dirty="0">
                <a:solidFill>
                  <a:srgbClr val="1B1140"/>
                </a:solidFill>
                <a:latin typeface="Calibri" pitchFamily="34" charset="0"/>
                <a:ea typeface="Calibri" pitchFamily="34" charset="-122"/>
                <a:cs typeface="Calibri" pitchFamily="34" charset="-120"/>
              </a:rPr>
              <a:t>61.9%</a:t>
            </a:r>
            <a:endParaRPr lang="en-US" sz="1050" dirty="0"/>
          </a:p>
        </p:txBody>
      </p:sp>
      <p:sp>
        <p:nvSpPr>
          <p:cNvPr id="17" name="Shape 13"/>
          <p:cNvSpPr/>
          <p:nvPr/>
        </p:nvSpPr>
        <p:spPr>
          <a:xfrm>
            <a:off x="502920" y="4480560"/>
            <a:ext cx="11155680" cy="1645920"/>
          </a:xfrm>
          <a:prstGeom prst="roundRect">
            <a:avLst>
              <a:gd name="adj" fmla="val 2778"/>
            </a:avLst>
          </a:prstGeom>
          <a:solidFill>
            <a:srgbClr val="FBF6EA"/>
          </a:solidFill>
          <a:ln w="12700">
            <a:solidFill>
              <a:srgbClr val="FBF6EA"/>
            </a:solidFill>
            <a:prstDash val="solid"/>
          </a:ln>
        </p:spPr>
      </p:sp>
      <p:sp>
        <p:nvSpPr>
          <p:cNvPr id="18" name="Shape 14"/>
          <p:cNvSpPr/>
          <p:nvPr/>
        </p:nvSpPr>
        <p:spPr>
          <a:xfrm>
            <a:off x="704088" y="4663440"/>
            <a:ext cx="274320" cy="274320"/>
          </a:xfrm>
          <a:prstGeom prst="ellipse">
            <a:avLst/>
          </a:prstGeom>
          <a:solidFill>
            <a:srgbClr val="EDA100"/>
          </a:solidFill>
          <a:ln w="12700">
            <a:solidFill>
              <a:srgbClr val="EDA100"/>
            </a:solidFill>
            <a:prstDash val="solid"/>
          </a:ln>
        </p:spPr>
      </p:sp>
      <p:sp>
        <p:nvSpPr>
          <p:cNvPr id="19" name="Text 15"/>
          <p:cNvSpPr txBox="1"/>
          <p:nvPr/>
        </p:nvSpPr>
        <p:spPr>
          <a:xfrm>
            <a:off x="704088" y="4663440"/>
            <a:ext cx="274320" cy="274320"/>
          </a:xfrm>
          <a:prstGeom prst="rect">
            <a:avLst/>
          </a:prstGeom>
          <a:noFill/>
          <a:ln/>
        </p:spPr>
        <p:txBody>
          <a:bodyPr wrap="square" lIns="0" tIns="0" rIns="0" bIns="0" rtlCol="0" anchor="ctr"/>
          <a:lstStyle/>
          <a:p>
            <a:pPr marL="0" indent="0" algn="ctr">
              <a:buNone/>
            </a:pPr>
            <a:r>
              <a:rPr lang="en-US" sz="1400" b="1" i="1" dirty="0">
                <a:solidFill>
                  <a:srgbClr val="FFFFFF"/>
                </a:solidFill>
                <a:latin typeface="Cambria" pitchFamily="34" charset="0"/>
                <a:ea typeface="Cambria" pitchFamily="34" charset="-122"/>
                <a:cs typeface="Cambria" pitchFamily="34" charset="-120"/>
              </a:rPr>
              <a:t>i</a:t>
            </a:r>
            <a:endParaRPr lang="en-US" sz="1400" dirty="0"/>
          </a:p>
        </p:txBody>
      </p:sp>
      <p:sp>
        <p:nvSpPr>
          <p:cNvPr id="20" name="Text 16"/>
          <p:cNvSpPr txBox="1"/>
          <p:nvPr/>
        </p:nvSpPr>
        <p:spPr>
          <a:xfrm>
            <a:off x="1097280" y="4626864"/>
            <a:ext cx="1037844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Insight — the fleet is concentrated, but failure is uniform across it</a:t>
            </a:r>
            <a:endParaRPr lang="en-US" sz="1250" dirty="0"/>
          </a:p>
        </p:txBody>
      </p:sp>
      <p:sp>
        <p:nvSpPr>
          <p:cNvPr id="21" name="Text 17"/>
          <p:cNvSpPr txBox="1"/>
          <p:nvPr/>
        </p:nvSpPr>
        <p:spPr>
          <a:xfrm>
            <a:off x="1097280" y="4901184"/>
            <a:ext cx="10378440" cy="1097280"/>
          </a:xfrm>
          <a:prstGeom prst="rect">
            <a:avLst/>
          </a:prstGeom>
          <a:noFill/>
          <a:ln/>
        </p:spPr>
        <p:txBody>
          <a:bodyPr wrap="square" lIns="0" tIns="0" rIns="0" bIns="0" rtlCol="0" anchor="t"/>
          <a:lstStyle/>
          <a:p>
            <a:pPr marL="0" indent="0">
              <a:lnSpc>
                <a:spcPct val="115000"/>
              </a:lnSpc>
              <a:buNone/>
            </a:pPr>
            <a:r>
              <a:rPr lang="en-US" sz="1150" dirty="0">
                <a:solidFill>
                  <a:srgbClr val="5B5670"/>
                </a:solidFill>
                <a:latin typeface="Calibri" pitchFamily="34" charset="0"/>
                <a:ea typeface="Calibri" pitchFamily="34" charset="-122"/>
                <a:cs typeface="Calibri" pitchFamily="34" charset="-120"/>
              </a:rPr>
              <a:t>Auto alone covers 625,616 km (24.9% of all distance) and the top five types together carry 89.9%, so fleet strategy can safely focus on those five. What the ranking hides is that completion rates barely differ by vehicle: every type lands between 61.4% (Go Sedan) and 62.6% (Uber XL), and cancellation rates sit in a 24.5%–25.3% band. Failure is therefore a platform-level problem, not a vehicle-class problem — fixing it in one segment will not move the others, and a single driver-side intervention should lift all five at once.</a:t>
            </a:r>
            <a:endParaRPr lang="en-US" sz="1150" dirty="0"/>
          </a:p>
        </p:txBody>
      </p:sp>
      <p:sp>
        <p:nvSpPr>
          <p:cNvPr id="22" name="Text 18"/>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23" name="Text 19"/>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REVENUE ANALYTICS</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Three quarters of revenue is already digital</a:t>
            </a:r>
            <a:endParaRPr lang="en-US" sz="3000" dirty="0"/>
          </a:p>
        </p:txBody>
      </p:sp>
      <p:sp>
        <p:nvSpPr>
          <p:cNvPr id="4" name="Text 2"/>
          <p:cNvSpPr txBox="1"/>
          <p:nvPr/>
        </p:nvSpPr>
        <p:spPr>
          <a:xfrm>
            <a:off x="502920" y="1234440"/>
            <a:ext cx="640080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Revenue by payment method (₹)</a:t>
            </a:r>
            <a:endParaRPr lang="en-US" sz="1250" dirty="0"/>
          </a:p>
        </p:txBody>
      </p:sp>
      <p:graphicFrame>
        <p:nvGraphicFramePr>
          <p:cNvPr id="5" name="Chart 0"/>
          <p:cNvGraphicFramePr/>
          <p:nvPr/>
        </p:nvGraphicFramePr>
        <p:xfrm>
          <a:off x="411480" y="1517904"/>
          <a:ext cx="667512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517904"/>
            <a:ext cx="4297680" cy="603504"/>
          </a:xfrm>
          <a:prstGeom prst="roundRect">
            <a:avLst>
              <a:gd name="adj" fmla="val 9091"/>
            </a:avLst>
          </a:prstGeom>
          <a:solidFill>
            <a:srgbClr val="F4F2FC"/>
          </a:solidFill>
          <a:ln w="12700">
            <a:solidFill>
              <a:srgbClr val="E8E4F6"/>
            </a:solidFill>
            <a:prstDash val="solid"/>
          </a:ln>
        </p:spPr>
      </p:sp>
      <p:sp>
        <p:nvSpPr>
          <p:cNvPr id="7" name="Text 4"/>
          <p:cNvSpPr txBox="1"/>
          <p:nvPr/>
        </p:nvSpPr>
        <p:spPr>
          <a:xfrm>
            <a:off x="7379208" y="1645920"/>
            <a:ext cx="4261104" cy="313822"/>
          </a:xfrm>
          <a:prstGeom prst="rect">
            <a:avLst/>
          </a:prstGeom>
          <a:noFill/>
          <a:ln/>
        </p:spPr>
        <p:txBody>
          <a:bodyPr wrap="square" lIns="0" tIns="0" rIns="0" bIns="0" rtlCol="0" anchor="ctr"/>
          <a:lstStyle/>
          <a:p>
            <a:pPr marL="0" indent="0" algn="ctr">
              <a:buNone/>
            </a:pPr>
            <a:r>
              <a:rPr lang="en-US" sz="1800" b="1" dirty="0">
                <a:solidFill>
                  <a:srgbClr val="1B1140"/>
                </a:solidFill>
                <a:latin typeface="Cambria" pitchFamily="34" charset="0"/>
                <a:ea typeface="Cambria" pitchFamily="34" charset="-122"/>
                <a:cs typeface="Cambria" pitchFamily="34" charset="-120"/>
              </a:rPr>
              <a:t>₹508.18</a:t>
            </a:r>
            <a:endParaRPr lang="en-US" sz="1800" dirty="0"/>
          </a:p>
        </p:txBody>
      </p:sp>
      <p:sp>
        <p:nvSpPr>
          <p:cNvPr id="8" name="Text 5"/>
          <p:cNvSpPr txBox="1"/>
          <p:nvPr/>
        </p:nvSpPr>
        <p:spPr>
          <a:xfrm>
            <a:off x="7415784" y="1880006"/>
            <a:ext cx="4187952" cy="1931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Avg completed ride value</a:t>
            </a:r>
            <a:endParaRPr lang="en-US" sz="1000" dirty="0"/>
          </a:p>
        </p:txBody>
      </p:sp>
      <p:sp>
        <p:nvSpPr>
          <p:cNvPr id="9" name="Shape 6"/>
          <p:cNvSpPr/>
          <p:nvPr/>
        </p:nvSpPr>
        <p:spPr>
          <a:xfrm>
            <a:off x="7360920" y="2203704"/>
            <a:ext cx="4297680" cy="603504"/>
          </a:xfrm>
          <a:prstGeom prst="roundRect">
            <a:avLst>
              <a:gd name="adj" fmla="val 9091"/>
            </a:avLst>
          </a:prstGeom>
          <a:solidFill>
            <a:srgbClr val="F4F2FC"/>
          </a:solidFill>
          <a:ln w="12700">
            <a:solidFill>
              <a:srgbClr val="E8E4F6"/>
            </a:solidFill>
            <a:prstDash val="solid"/>
          </a:ln>
        </p:spPr>
      </p:sp>
      <p:sp>
        <p:nvSpPr>
          <p:cNvPr id="10" name="Text 7"/>
          <p:cNvSpPr txBox="1"/>
          <p:nvPr/>
        </p:nvSpPr>
        <p:spPr>
          <a:xfrm>
            <a:off x="7379208" y="2331720"/>
            <a:ext cx="4261104" cy="313822"/>
          </a:xfrm>
          <a:prstGeom prst="rect">
            <a:avLst/>
          </a:prstGeom>
          <a:noFill/>
          <a:ln/>
        </p:spPr>
        <p:txBody>
          <a:bodyPr wrap="square" lIns="0" tIns="0" rIns="0" bIns="0" rtlCol="0" anchor="ctr"/>
          <a:lstStyle/>
          <a:p>
            <a:pPr marL="0" indent="0" algn="ctr">
              <a:buNone/>
            </a:pPr>
            <a:r>
              <a:rPr lang="en-US" sz="1800" b="1" dirty="0">
                <a:solidFill>
                  <a:srgbClr val="1B1140"/>
                </a:solidFill>
                <a:latin typeface="Cambria" pitchFamily="34" charset="0"/>
                <a:ea typeface="Cambria" pitchFamily="34" charset="-122"/>
                <a:cs typeface="Cambria" pitchFamily="34" charset="-120"/>
              </a:rPr>
              <a:t>₹19.54</a:t>
            </a:r>
            <a:endParaRPr lang="en-US" sz="1800" dirty="0"/>
          </a:p>
        </p:txBody>
      </p:sp>
      <p:sp>
        <p:nvSpPr>
          <p:cNvPr id="11" name="Text 8"/>
          <p:cNvSpPr txBox="1"/>
          <p:nvPr/>
        </p:nvSpPr>
        <p:spPr>
          <a:xfrm>
            <a:off x="7415784" y="2565806"/>
            <a:ext cx="4187952" cy="1931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Revenue per kilometre</a:t>
            </a:r>
            <a:endParaRPr lang="en-US" sz="1000" dirty="0"/>
          </a:p>
        </p:txBody>
      </p:sp>
      <p:sp>
        <p:nvSpPr>
          <p:cNvPr id="12" name="Shape 9"/>
          <p:cNvSpPr/>
          <p:nvPr/>
        </p:nvSpPr>
        <p:spPr>
          <a:xfrm>
            <a:off x="7360920" y="2889504"/>
            <a:ext cx="4297680" cy="603504"/>
          </a:xfrm>
          <a:prstGeom prst="roundRect">
            <a:avLst>
              <a:gd name="adj" fmla="val 9091"/>
            </a:avLst>
          </a:prstGeom>
          <a:solidFill>
            <a:srgbClr val="F4F2FC"/>
          </a:solidFill>
          <a:ln w="12700">
            <a:solidFill>
              <a:srgbClr val="E8E4F6"/>
            </a:solidFill>
            <a:prstDash val="solid"/>
          </a:ln>
        </p:spPr>
      </p:sp>
      <p:sp>
        <p:nvSpPr>
          <p:cNvPr id="13" name="Text 10"/>
          <p:cNvSpPr txBox="1"/>
          <p:nvPr/>
        </p:nvSpPr>
        <p:spPr>
          <a:xfrm>
            <a:off x="7379208" y="3017520"/>
            <a:ext cx="4261104" cy="313822"/>
          </a:xfrm>
          <a:prstGeom prst="rect">
            <a:avLst/>
          </a:prstGeom>
          <a:noFill/>
          <a:ln/>
        </p:spPr>
        <p:txBody>
          <a:bodyPr wrap="square" lIns="0" tIns="0" rIns="0" bIns="0" rtlCol="0" anchor="ctr"/>
          <a:lstStyle/>
          <a:p>
            <a:pPr marL="0" indent="0" algn="ctr">
              <a:buNone/>
            </a:pPr>
            <a:r>
              <a:rPr lang="en-US" sz="1800" b="1" dirty="0">
                <a:solidFill>
                  <a:srgbClr val="1B1140"/>
                </a:solidFill>
                <a:latin typeface="Cambria" pitchFamily="34" charset="0"/>
                <a:ea typeface="Cambria" pitchFamily="34" charset="-122"/>
                <a:cs typeface="Cambria" pitchFamily="34" charset="-120"/>
              </a:rPr>
              <a:t>₹348.46</a:t>
            </a:r>
            <a:endParaRPr lang="en-US" sz="1800" dirty="0"/>
          </a:p>
        </p:txBody>
      </p:sp>
      <p:sp>
        <p:nvSpPr>
          <p:cNvPr id="14" name="Text 11"/>
          <p:cNvSpPr txBox="1"/>
          <p:nvPr/>
        </p:nvSpPr>
        <p:spPr>
          <a:xfrm>
            <a:off x="7415784" y="3251606"/>
            <a:ext cx="4187952" cy="1931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Revenue per customer</a:t>
            </a:r>
            <a:endParaRPr lang="en-US" sz="1000" dirty="0"/>
          </a:p>
        </p:txBody>
      </p:sp>
      <p:sp>
        <p:nvSpPr>
          <p:cNvPr id="15" name="Shape 12"/>
          <p:cNvSpPr/>
          <p:nvPr/>
        </p:nvSpPr>
        <p:spPr>
          <a:xfrm>
            <a:off x="7360920" y="3575304"/>
            <a:ext cx="4297680" cy="603504"/>
          </a:xfrm>
          <a:prstGeom prst="roundRect">
            <a:avLst>
              <a:gd name="adj" fmla="val 9091"/>
            </a:avLst>
          </a:prstGeom>
          <a:solidFill>
            <a:srgbClr val="F4F2FC"/>
          </a:solidFill>
          <a:ln w="12700">
            <a:solidFill>
              <a:srgbClr val="E8E4F6"/>
            </a:solidFill>
            <a:prstDash val="solid"/>
          </a:ln>
        </p:spPr>
      </p:sp>
      <p:sp>
        <p:nvSpPr>
          <p:cNvPr id="16" name="Text 13"/>
          <p:cNvSpPr txBox="1"/>
          <p:nvPr/>
        </p:nvSpPr>
        <p:spPr>
          <a:xfrm>
            <a:off x="7379208" y="3703320"/>
            <a:ext cx="4261104" cy="313822"/>
          </a:xfrm>
          <a:prstGeom prst="rect">
            <a:avLst/>
          </a:prstGeom>
          <a:noFill/>
          <a:ln/>
        </p:spPr>
        <p:txBody>
          <a:bodyPr wrap="square" lIns="0" tIns="0" rIns="0" bIns="0" rtlCol="0" anchor="ctr"/>
          <a:lstStyle/>
          <a:p>
            <a:pPr marL="0" indent="0" algn="ctr">
              <a:buNone/>
            </a:pPr>
            <a:r>
              <a:rPr lang="en-US" sz="1800" b="1" dirty="0">
                <a:solidFill>
                  <a:srgbClr val="1B1140"/>
                </a:solidFill>
                <a:latin typeface="Cambria" pitchFamily="34" charset="0"/>
                <a:ea typeface="Cambria" pitchFamily="34" charset="-122"/>
                <a:cs typeface="Cambria" pitchFamily="34" charset="-120"/>
              </a:rPr>
              <a:t>75.1%</a:t>
            </a:r>
            <a:endParaRPr lang="en-US" sz="1800" dirty="0"/>
          </a:p>
        </p:txBody>
      </p:sp>
      <p:sp>
        <p:nvSpPr>
          <p:cNvPr id="17" name="Text 14"/>
          <p:cNvSpPr txBox="1"/>
          <p:nvPr/>
        </p:nvSpPr>
        <p:spPr>
          <a:xfrm>
            <a:off x="7415784" y="3937406"/>
            <a:ext cx="4187952" cy="1931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Digital share of revenue</a:t>
            </a:r>
            <a:endParaRPr lang="en-US" sz="1000" dirty="0"/>
          </a:p>
        </p:txBody>
      </p:sp>
      <p:sp>
        <p:nvSpPr>
          <p:cNvPr id="18" name="Shape 15"/>
          <p:cNvSpPr/>
          <p:nvPr/>
        </p:nvSpPr>
        <p:spPr>
          <a:xfrm>
            <a:off x="7360920" y="4315968"/>
            <a:ext cx="4297680" cy="566928"/>
          </a:xfrm>
          <a:prstGeom prst="roundRect">
            <a:avLst>
              <a:gd name="adj" fmla="val 8065"/>
            </a:avLst>
          </a:prstGeom>
          <a:solidFill>
            <a:srgbClr val="FBF6EA"/>
          </a:solidFill>
          <a:ln w="12700">
            <a:solidFill>
              <a:srgbClr val="FBF6EA"/>
            </a:solidFill>
            <a:prstDash val="solid"/>
          </a:ln>
        </p:spPr>
      </p:sp>
      <p:sp>
        <p:nvSpPr>
          <p:cNvPr id="19" name="Text 16"/>
          <p:cNvSpPr txBox="1"/>
          <p:nvPr/>
        </p:nvSpPr>
        <p:spPr>
          <a:xfrm>
            <a:off x="7498080" y="4315968"/>
            <a:ext cx="4023360" cy="566928"/>
          </a:xfrm>
          <a:prstGeom prst="rect">
            <a:avLst/>
          </a:prstGeom>
          <a:noFill/>
          <a:ln/>
        </p:spPr>
        <p:txBody>
          <a:bodyPr wrap="square" lIns="0" tIns="0" rIns="0" bIns="0" rtlCol="0" anchor="ctr"/>
          <a:lstStyle/>
          <a:p>
            <a:pPr marL="0" indent="0">
              <a:buNone/>
            </a:pPr>
            <a:r>
              <a:rPr lang="en-US" sz="1150" b="1" dirty="0">
                <a:solidFill>
                  <a:srgbClr val="1B1140"/>
                </a:solidFill>
                <a:latin typeface="Calibri" pitchFamily="34" charset="0"/>
                <a:ea typeface="Calibri" pitchFamily="34" charset="-122"/>
                <a:cs typeface="Calibri" pitchFamily="34" charset="-120"/>
              </a:rPr>
              <a:t>₹12.9M still settles in cash — 24.9% of revenue</a:t>
            </a:r>
            <a:endParaRPr lang="en-US" sz="1150" dirty="0"/>
          </a:p>
        </p:txBody>
      </p:sp>
      <p:sp>
        <p:nvSpPr>
          <p:cNvPr id="20" name="Shape 17"/>
          <p:cNvSpPr/>
          <p:nvPr/>
        </p:nvSpPr>
        <p:spPr>
          <a:xfrm>
            <a:off x="502920" y="5047488"/>
            <a:ext cx="11155680" cy="1225296"/>
          </a:xfrm>
          <a:prstGeom prst="roundRect">
            <a:avLst>
              <a:gd name="adj" fmla="val 3731"/>
            </a:avLst>
          </a:prstGeom>
          <a:solidFill>
            <a:srgbClr val="F4F2FC"/>
          </a:solidFill>
          <a:ln w="12700">
            <a:solidFill>
              <a:srgbClr val="F4F2FC"/>
            </a:solidFill>
            <a:prstDash val="solid"/>
          </a:ln>
        </p:spPr>
      </p:sp>
      <p:sp>
        <p:nvSpPr>
          <p:cNvPr id="21" name="Shape 18"/>
          <p:cNvSpPr/>
          <p:nvPr/>
        </p:nvSpPr>
        <p:spPr>
          <a:xfrm>
            <a:off x="704088" y="5230368"/>
            <a:ext cx="274320" cy="274320"/>
          </a:xfrm>
          <a:prstGeom prst="ellipse">
            <a:avLst/>
          </a:prstGeom>
          <a:solidFill>
            <a:srgbClr val="4A3AA7"/>
          </a:solidFill>
          <a:ln w="12700">
            <a:solidFill>
              <a:srgbClr val="4A3AA7"/>
            </a:solidFill>
            <a:prstDash val="solid"/>
          </a:ln>
        </p:spPr>
      </p:sp>
      <p:sp>
        <p:nvSpPr>
          <p:cNvPr id="22" name="Text 19"/>
          <p:cNvSpPr txBox="1"/>
          <p:nvPr/>
        </p:nvSpPr>
        <p:spPr>
          <a:xfrm>
            <a:off x="704088" y="5230368"/>
            <a:ext cx="274320" cy="274320"/>
          </a:xfrm>
          <a:prstGeom prst="rect">
            <a:avLst/>
          </a:prstGeom>
          <a:noFill/>
          <a:ln/>
        </p:spPr>
        <p:txBody>
          <a:bodyPr wrap="square" lIns="0" tIns="0" rIns="0" bIns="0" rtlCol="0" anchor="ctr"/>
          <a:lstStyle/>
          <a:p>
            <a:pPr marL="0" indent="0" algn="ctr">
              <a:buNone/>
            </a:pPr>
            <a:r>
              <a:rPr lang="en-US" sz="1400" b="1" i="1" dirty="0">
                <a:solidFill>
                  <a:srgbClr val="FFFFFF"/>
                </a:solidFill>
                <a:latin typeface="Cambria" pitchFamily="34" charset="0"/>
                <a:ea typeface="Cambria" pitchFamily="34" charset="-122"/>
                <a:cs typeface="Cambria" pitchFamily="34" charset="-120"/>
              </a:rPr>
              <a:t>i</a:t>
            </a:r>
            <a:endParaRPr lang="en-US" sz="1400" dirty="0"/>
          </a:p>
        </p:txBody>
      </p:sp>
      <p:sp>
        <p:nvSpPr>
          <p:cNvPr id="23" name="Text 20"/>
          <p:cNvSpPr txBox="1"/>
          <p:nvPr/>
        </p:nvSpPr>
        <p:spPr>
          <a:xfrm>
            <a:off x="1097280" y="5193792"/>
            <a:ext cx="1037844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Insight — UPI carries the platform</a:t>
            </a:r>
            <a:endParaRPr lang="en-US" sz="1250" dirty="0"/>
          </a:p>
        </p:txBody>
      </p:sp>
      <p:sp>
        <p:nvSpPr>
          <p:cNvPr id="24" name="Text 21"/>
          <p:cNvSpPr txBox="1"/>
          <p:nvPr/>
        </p:nvSpPr>
        <p:spPr>
          <a:xfrm>
            <a:off x="1097280" y="5468112"/>
            <a:ext cx="10378440" cy="676656"/>
          </a:xfrm>
          <a:prstGeom prst="rect">
            <a:avLst/>
          </a:prstGeom>
          <a:noFill/>
          <a:ln/>
        </p:spPr>
        <p:txBody>
          <a:bodyPr wrap="square" lIns="0" tIns="0" rIns="0" bIns="0" rtlCol="0" anchor="t"/>
          <a:lstStyle/>
          <a:p>
            <a:pPr marL="0" indent="0">
              <a:lnSpc>
                <a:spcPct val="115000"/>
              </a:lnSpc>
              <a:buNone/>
            </a:pPr>
            <a:r>
              <a:rPr lang="en-US" sz="1150" dirty="0">
                <a:solidFill>
                  <a:srgbClr val="5B5670"/>
                </a:solidFill>
                <a:latin typeface="Calibri" pitchFamily="34" charset="0"/>
                <a:ea typeface="Calibri" pitchFamily="34" charset="-122"/>
                <a:cs typeface="Calibri" pitchFamily="34" charset="-120"/>
              </a:rPr>
              <a:t>UPI alone settles ₹23.3M (45.0% of revenue) across 45,909 rides, and the four digital rails together account for 75.1%. Cash remains the second-largest channel at ₹12.9M, concentrating reconciliation effort, float risk and driver cash-handling on a quarter of all revenue.</a:t>
            </a:r>
            <a:endParaRPr lang="en-US" sz="1150" dirty="0"/>
          </a:p>
        </p:txBody>
      </p:sp>
      <p:sp>
        <p:nvSpPr>
          <p:cNvPr id="25" name="Text 22"/>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26" name="Text 23"/>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REVENUE ANALYTICS</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Long rides, high spread — but no repeat customers</a:t>
            </a:r>
            <a:endParaRPr lang="en-US" sz="3000" dirty="0"/>
          </a:p>
        </p:txBody>
      </p:sp>
      <p:sp>
        <p:nvSpPr>
          <p:cNvPr id="4" name="Text 2"/>
          <p:cNvSpPr txBox="1"/>
          <p:nvPr/>
        </p:nvSpPr>
        <p:spPr>
          <a:xfrm>
            <a:off x="502920" y="1234440"/>
            <a:ext cx="548640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Top 5 customers by total booking value</a:t>
            </a:r>
            <a:endParaRPr lang="en-US" sz="1250" dirty="0"/>
          </a:p>
        </p:txBody>
      </p:sp>
      <p:graphicFrame>
        <p:nvGraphicFramePr>
          <p:cNvPr id="5" name="Chart 0"/>
          <p:cNvGraphicFramePr/>
          <p:nvPr/>
        </p:nvGraphicFramePr>
        <p:xfrm>
          <a:off x="411480" y="1517904"/>
          <a:ext cx="55778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02920" y="3877056"/>
            <a:ext cx="5486400" cy="237744"/>
          </a:xfrm>
          <a:prstGeom prst="rect">
            <a:avLst/>
          </a:prstGeom>
          <a:noFill/>
          <a:ln/>
        </p:spPr>
        <p:txBody>
          <a:bodyPr wrap="square" lIns="0" tIns="0" rIns="0" bIns="0" rtlCol="0" anchor="ctr"/>
          <a:lstStyle/>
          <a:p>
            <a:pPr marL="0" indent="0">
              <a:buNone/>
            </a:pPr>
            <a:r>
              <a:rPr lang="en-US" sz="1050" i="1" dirty="0">
                <a:solidFill>
                  <a:srgbClr val="5B5670"/>
                </a:solidFill>
                <a:latin typeface="Calibri" pitchFamily="34" charset="0"/>
                <a:ea typeface="Calibri" pitchFamily="34" charset="-122"/>
                <a:cs typeface="Calibri" pitchFamily="34" charset="-120"/>
              </a:rPr>
              <a:t>Rides behind each (top to bottom): 2 · 3 · 1 · 1 · 1</a:t>
            </a:r>
            <a:endParaRPr lang="en-US" sz="1050" dirty="0"/>
          </a:p>
        </p:txBody>
      </p:sp>
      <p:sp>
        <p:nvSpPr>
          <p:cNvPr id="7" name="Text 4"/>
          <p:cNvSpPr txBox="1"/>
          <p:nvPr/>
        </p:nvSpPr>
        <p:spPr>
          <a:xfrm>
            <a:off x="6355080" y="1234440"/>
            <a:ext cx="548640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Completed rides by distance band</a:t>
            </a:r>
            <a:endParaRPr lang="en-US" sz="1250" dirty="0"/>
          </a:p>
        </p:txBody>
      </p:sp>
      <p:graphicFrame>
        <p:nvGraphicFramePr>
          <p:cNvPr id="8" name="Chart 1"/>
          <p:cNvGraphicFramePr/>
          <p:nvPr/>
        </p:nvGraphicFramePr>
        <p:xfrm>
          <a:off x="6263640" y="1517904"/>
          <a:ext cx="544068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txBox="1"/>
          <p:nvPr/>
        </p:nvSpPr>
        <p:spPr>
          <a:xfrm>
            <a:off x="6355080" y="3877056"/>
            <a:ext cx="5486400" cy="237744"/>
          </a:xfrm>
          <a:prstGeom prst="rect">
            <a:avLst/>
          </a:prstGeom>
          <a:noFill/>
          <a:ln/>
        </p:spPr>
        <p:txBody>
          <a:bodyPr wrap="square" lIns="0" tIns="0" rIns="0" bIns="0" rtlCol="0" anchor="ctr"/>
          <a:lstStyle/>
          <a:p>
            <a:pPr marL="0" indent="0">
              <a:buNone/>
            </a:pPr>
            <a:r>
              <a:rPr lang="en-US" sz="1050" i="1" dirty="0">
                <a:solidFill>
                  <a:srgbClr val="5B5670"/>
                </a:solidFill>
                <a:latin typeface="Calibri" pitchFamily="34" charset="0"/>
                <a:ea typeface="Calibri" pitchFamily="34" charset="-122"/>
                <a:cs typeface="Calibri" pitchFamily="34" charset="-120"/>
              </a:rPr>
              <a:t>Median completed ride: 26.0 km  ·  90th percentile: 45.1 km</a:t>
            </a:r>
            <a:endParaRPr lang="en-US" sz="1050" dirty="0"/>
          </a:p>
        </p:txBody>
      </p:sp>
      <p:sp>
        <p:nvSpPr>
          <p:cNvPr id="10" name="Shape 6"/>
          <p:cNvSpPr/>
          <p:nvPr/>
        </p:nvSpPr>
        <p:spPr>
          <a:xfrm>
            <a:off x="502920" y="4224528"/>
            <a:ext cx="11155680" cy="1792224"/>
          </a:xfrm>
          <a:prstGeom prst="roundRect">
            <a:avLst>
              <a:gd name="adj" fmla="val 2551"/>
            </a:avLst>
          </a:prstGeom>
          <a:solidFill>
            <a:srgbClr val="FBF6EA"/>
          </a:solidFill>
          <a:ln w="12700">
            <a:solidFill>
              <a:srgbClr val="FBF6EA"/>
            </a:solidFill>
            <a:prstDash val="solid"/>
          </a:ln>
        </p:spPr>
      </p:sp>
      <p:sp>
        <p:nvSpPr>
          <p:cNvPr id="11" name="Shape 7"/>
          <p:cNvSpPr/>
          <p:nvPr/>
        </p:nvSpPr>
        <p:spPr>
          <a:xfrm>
            <a:off x="704088" y="4407408"/>
            <a:ext cx="274320" cy="274320"/>
          </a:xfrm>
          <a:prstGeom prst="ellipse">
            <a:avLst/>
          </a:prstGeom>
          <a:solidFill>
            <a:srgbClr val="EDA100"/>
          </a:solidFill>
          <a:ln w="12700">
            <a:solidFill>
              <a:srgbClr val="EDA100"/>
            </a:solidFill>
            <a:prstDash val="solid"/>
          </a:ln>
        </p:spPr>
      </p:sp>
      <p:sp>
        <p:nvSpPr>
          <p:cNvPr id="12" name="Text 8"/>
          <p:cNvSpPr txBox="1"/>
          <p:nvPr/>
        </p:nvSpPr>
        <p:spPr>
          <a:xfrm>
            <a:off x="704088" y="4407408"/>
            <a:ext cx="274320" cy="274320"/>
          </a:xfrm>
          <a:prstGeom prst="rect">
            <a:avLst/>
          </a:prstGeom>
          <a:noFill/>
          <a:ln/>
        </p:spPr>
        <p:txBody>
          <a:bodyPr wrap="square" lIns="0" tIns="0" rIns="0" bIns="0" rtlCol="0" anchor="ctr"/>
          <a:lstStyle/>
          <a:p>
            <a:pPr marL="0" indent="0" algn="ctr">
              <a:buNone/>
            </a:pPr>
            <a:r>
              <a:rPr lang="en-US" sz="1400" b="1" i="1" dirty="0">
                <a:solidFill>
                  <a:srgbClr val="FFFFFF"/>
                </a:solidFill>
                <a:latin typeface="Cambria" pitchFamily="34" charset="0"/>
                <a:ea typeface="Cambria" pitchFamily="34" charset="-122"/>
                <a:cs typeface="Cambria" pitchFamily="34" charset="-120"/>
              </a:rPr>
              <a:t>i</a:t>
            </a:r>
            <a:endParaRPr lang="en-US" sz="1400" dirty="0"/>
          </a:p>
        </p:txBody>
      </p:sp>
      <p:sp>
        <p:nvSpPr>
          <p:cNvPr id="13" name="Text 9"/>
          <p:cNvSpPr txBox="1"/>
          <p:nvPr/>
        </p:nvSpPr>
        <p:spPr>
          <a:xfrm>
            <a:off x="1097280" y="4370832"/>
            <a:ext cx="1037844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Insight — the 'leaderboard' is a warning, not a loyalty list</a:t>
            </a:r>
            <a:endParaRPr lang="en-US" sz="1250" dirty="0"/>
          </a:p>
        </p:txBody>
      </p:sp>
      <p:sp>
        <p:nvSpPr>
          <p:cNvPr id="14" name="Text 10"/>
          <p:cNvSpPr txBox="1"/>
          <p:nvPr/>
        </p:nvSpPr>
        <p:spPr>
          <a:xfrm>
            <a:off x="1097280" y="4645152"/>
            <a:ext cx="10378440" cy="1243584"/>
          </a:xfrm>
          <a:prstGeom prst="rect">
            <a:avLst/>
          </a:prstGeom>
          <a:noFill/>
          <a:ln/>
        </p:spPr>
        <p:txBody>
          <a:bodyPr wrap="square" lIns="0" tIns="0" rIns="0" bIns="0" rtlCol="0" anchor="t"/>
          <a:lstStyle/>
          <a:p>
            <a:pPr marL="0" indent="0">
              <a:lnSpc>
                <a:spcPct val="115000"/>
              </a:lnSpc>
              <a:buNone/>
            </a:pPr>
            <a:r>
              <a:rPr lang="en-US" sz="1150" dirty="0">
                <a:solidFill>
                  <a:srgbClr val="5B5670"/>
                </a:solidFill>
                <a:latin typeface="Calibri" pitchFamily="34" charset="0"/>
                <a:ea typeface="Calibri" pitchFamily="34" charset="-122"/>
                <a:cs typeface="Calibri" pitchFamily="34" charset="-120"/>
              </a:rPr>
              <a:t>The highest-spending customer of the year spent ₹4,987 across just two rides, and three of the top five appear only once. Across the whole dataset 148,788 distinct customers produced 150,000 bookings — just 1,206 people (0.81%) ever booked twice, and nobody booked more than three times. There is no retained base to grow, which means every rupee of revenue is bought again each time through acquisition. Ride length is the offsetting strength: rides are long and evenly spread from 10 to 50 km, with a 26.0 km median and ₹19.54 earned per kilometre, so each acquired trip is unusually valuable when it completes.</a:t>
            </a:r>
            <a:endParaRPr lang="en-US" sz="1150" dirty="0"/>
          </a:p>
        </p:txBody>
      </p:sp>
      <p:sp>
        <p:nvSpPr>
          <p:cNvPr id="15" name="Text 11"/>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16" name="Text 12"/>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CANCELLATION INTELLIGENCE</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Why 37,500 rides were cancelled</a:t>
            </a:r>
            <a:endParaRPr lang="en-US" sz="3000" dirty="0"/>
          </a:p>
        </p:txBody>
      </p:sp>
      <p:sp>
        <p:nvSpPr>
          <p:cNvPr id="4" name="Text 2"/>
          <p:cNvSpPr txBox="1"/>
          <p:nvPr/>
        </p:nvSpPr>
        <p:spPr>
          <a:xfrm>
            <a:off x="502920" y="1207008"/>
            <a:ext cx="539496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Customer cancellations — 10,500 rides</a:t>
            </a:r>
            <a:endParaRPr lang="en-US" sz="1250" dirty="0"/>
          </a:p>
        </p:txBody>
      </p:sp>
      <p:graphicFrame>
        <p:nvGraphicFramePr>
          <p:cNvPr id="5" name="Chart 0"/>
          <p:cNvGraphicFramePr/>
          <p:nvPr/>
        </p:nvGraphicFramePr>
        <p:xfrm>
          <a:off x="320040" y="1444752"/>
          <a:ext cx="57607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355080" y="1207008"/>
            <a:ext cx="539496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Driver cancellations — 27,000 rides</a:t>
            </a:r>
            <a:endParaRPr lang="en-US" sz="1250" dirty="0"/>
          </a:p>
        </p:txBody>
      </p:sp>
      <p:graphicFrame>
        <p:nvGraphicFramePr>
          <p:cNvPr id="7" name="Chart 1"/>
          <p:cNvGraphicFramePr/>
          <p:nvPr/>
        </p:nvGraphicFramePr>
        <p:xfrm>
          <a:off x="6172200" y="1444752"/>
          <a:ext cx="576072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02920" y="4509358"/>
            <a:ext cx="11155680" cy="1517904"/>
          </a:xfrm>
          <a:prstGeom prst="roundRect">
            <a:avLst>
              <a:gd name="adj" fmla="val 3012"/>
            </a:avLst>
          </a:prstGeom>
          <a:solidFill>
            <a:srgbClr val="F4F2FC"/>
          </a:solidFill>
          <a:ln w="12700">
            <a:solidFill>
              <a:srgbClr val="F4F2FC"/>
            </a:solidFill>
            <a:prstDash val="solid"/>
          </a:ln>
        </p:spPr>
      </p:sp>
      <p:sp>
        <p:nvSpPr>
          <p:cNvPr id="9" name="Shape 5"/>
          <p:cNvSpPr/>
          <p:nvPr/>
        </p:nvSpPr>
        <p:spPr>
          <a:xfrm>
            <a:off x="704088" y="4681728"/>
            <a:ext cx="274320" cy="274320"/>
          </a:xfrm>
          <a:prstGeom prst="ellipse">
            <a:avLst/>
          </a:prstGeom>
          <a:solidFill>
            <a:srgbClr val="4A3AA7"/>
          </a:solidFill>
          <a:ln w="12700">
            <a:solidFill>
              <a:srgbClr val="4A3AA7"/>
            </a:solidFill>
            <a:prstDash val="solid"/>
          </a:ln>
        </p:spPr>
      </p:sp>
      <p:sp>
        <p:nvSpPr>
          <p:cNvPr id="10" name="Text 6"/>
          <p:cNvSpPr txBox="1"/>
          <p:nvPr/>
        </p:nvSpPr>
        <p:spPr>
          <a:xfrm>
            <a:off x="704088" y="4681728"/>
            <a:ext cx="274320" cy="274320"/>
          </a:xfrm>
          <a:prstGeom prst="rect">
            <a:avLst/>
          </a:prstGeom>
          <a:noFill/>
          <a:ln/>
        </p:spPr>
        <p:txBody>
          <a:bodyPr wrap="square" lIns="0" tIns="0" rIns="0" bIns="0" rtlCol="0" anchor="ctr"/>
          <a:lstStyle/>
          <a:p>
            <a:pPr marL="0" indent="0" algn="ctr">
              <a:buNone/>
            </a:pPr>
            <a:r>
              <a:rPr lang="en-US" sz="1400" b="1" i="1" dirty="0">
                <a:solidFill>
                  <a:srgbClr val="FFFFFF"/>
                </a:solidFill>
                <a:latin typeface="Cambria" pitchFamily="34" charset="0"/>
                <a:ea typeface="Cambria" pitchFamily="34" charset="-122"/>
                <a:cs typeface="Cambria" pitchFamily="34" charset="-120"/>
              </a:rPr>
              <a:t>i</a:t>
            </a:r>
            <a:endParaRPr lang="en-US" sz="1400" dirty="0"/>
          </a:p>
        </p:txBody>
      </p:sp>
      <p:sp>
        <p:nvSpPr>
          <p:cNvPr id="11" name="Text 7"/>
          <p:cNvSpPr txBox="1"/>
          <p:nvPr/>
        </p:nvSpPr>
        <p:spPr>
          <a:xfrm>
            <a:off x="1097280" y="4645152"/>
            <a:ext cx="1037844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Insight — 44% of 'customer' cancellations are actually driver behaviour</a:t>
            </a:r>
            <a:endParaRPr lang="en-US" sz="1250" dirty="0"/>
          </a:p>
        </p:txBody>
      </p:sp>
      <p:sp>
        <p:nvSpPr>
          <p:cNvPr id="12" name="Text 8"/>
          <p:cNvSpPr txBox="1"/>
          <p:nvPr/>
        </p:nvSpPr>
        <p:spPr>
          <a:xfrm>
            <a:off x="1097280" y="4919472"/>
            <a:ext cx="10378440" cy="969264"/>
          </a:xfrm>
          <a:prstGeom prst="rect">
            <a:avLst/>
          </a:prstGeom>
          <a:noFill/>
          <a:ln/>
        </p:spPr>
        <p:txBody>
          <a:bodyPr wrap="square" lIns="0" tIns="0" rIns="0" bIns="0" rtlCol="0" anchor="t"/>
          <a:lstStyle/>
          <a:p>
            <a:pPr marL="0" indent="0">
              <a:lnSpc>
                <a:spcPct val="115000"/>
              </a:lnSpc>
              <a:buNone/>
            </a:pPr>
            <a:r>
              <a:rPr lang="en-US" sz="1150" dirty="0">
                <a:solidFill>
                  <a:srgbClr val="5B5670"/>
                </a:solidFill>
                <a:latin typeface="Calibri" pitchFamily="34" charset="0"/>
                <a:ea typeface="Calibri" pitchFamily="34" charset="-122"/>
                <a:cs typeface="Calibri" pitchFamily="34" charset="-120"/>
              </a:rPr>
              <a:t>Neither side shows a single dominant cause: customer reasons cluster tightly between 11% and 22.5%, driver reasons between 24.8% and 25.3%. The signal is in the attribution. 'Driver is not moving towards pickup' (2,335) and 'Driver asked to cancel' (2,295) together make up 44.1% of all customer cancellations — those are driver-caused failures recorded against the customer. Adding them to the 27,000 driver cancellations and 10,500 unfulfilled requests, driver behaviour explains 42,130 failed bookings — 28.1% of everything booked this year.</a:t>
            </a:r>
            <a:endParaRPr lang="en-US" sz="1150" dirty="0"/>
          </a:p>
        </p:txBody>
      </p:sp>
      <p:sp>
        <p:nvSpPr>
          <p:cNvPr id="13" name="Text 9"/>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14" name="Text 10"/>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COST OF FAILURE</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Where the ₹24.4M leaks out</a:t>
            </a:r>
            <a:endParaRPr lang="en-US" sz="3000" dirty="0"/>
          </a:p>
        </p:txBody>
      </p:sp>
      <p:sp>
        <p:nvSpPr>
          <p:cNvPr id="4" name="Text 2"/>
          <p:cNvSpPr txBox="1"/>
          <p:nvPr/>
        </p:nvSpPr>
        <p:spPr>
          <a:xfrm>
            <a:off x="502920" y="1207008"/>
            <a:ext cx="548640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Booking funnel — where volume is lost</a:t>
            </a:r>
            <a:endParaRPr lang="en-US" sz="1250" dirty="0"/>
          </a:p>
        </p:txBody>
      </p:sp>
      <p:sp>
        <p:nvSpPr>
          <p:cNvPr id="5" name="Shape 3"/>
          <p:cNvSpPr/>
          <p:nvPr/>
        </p:nvSpPr>
        <p:spPr>
          <a:xfrm>
            <a:off x="502920" y="1517904"/>
            <a:ext cx="6916522" cy="512064"/>
          </a:xfrm>
          <a:prstGeom prst="roundRect">
            <a:avLst>
              <a:gd name="adj" fmla="val 7143"/>
            </a:avLst>
          </a:prstGeom>
          <a:solidFill>
            <a:srgbClr val="1B1140"/>
          </a:solidFill>
          <a:ln w="12700">
            <a:solidFill>
              <a:srgbClr val="1B1140"/>
            </a:solidFill>
            <a:prstDash val="solid"/>
          </a:ln>
        </p:spPr>
      </p:sp>
      <p:sp>
        <p:nvSpPr>
          <p:cNvPr id="6" name="Text 4"/>
          <p:cNvSpPr txBox="1"/>
          <p:nvPr/>
        </p:nvSpPr>
        <p:spPr>
          <a:xfrm>
            <a:off x="658368" y="1517904"/>
            <a:ext cx="6642202" cy="51206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150,000   Bookings placed</a:t>
            </a:r>
            <a:endParaRPr lang="en-US" sz="1200" dirty="0"/>
          </a:p>
        </p:txBody>
      </p:sp>
      <p:sp>
        <p:nvSpPr>
          <p:cNvPr id="7" name="Shape 5"/>
          <p:cNvSpPr/>
          <p:nvPr/>
        </p:nvSpPr>
        <p:spPr>
          <a:xfrm>
            <a:off x="502920" y="2176272"/>
            <a:ext cx="6434633" cy="512064"/>
          </a:xfrm>
          <a:prstGeom prst="roundRect">
            <a:avLst>
              <a:gd name="adj" fmla="val 7143"/>
            </a:avLst>
          </a:prstGeom>
          <a:solidFill>
            <a:srgbClr val="4A3AA7"/>
          </a:solidFill>
          <a:ln w="12700">
            <a:solidFill>
              <a:srgbClr val="4A3AA7"/>
            </a:solidFill>
            <a:prstDash val="solid"/>
          </a:ln>
        </p:spPr>
      </p:sp>
      <p:sp>
        <p:nvSpPr>
          <p:cNvPr id="8" name="Text 6"/>
          <p:cNvSpPr txBox="1"/>
          <p:nvPr/>
        </p:nvSpPr>
        <p:spPr>
          <a:xfrm>
            <a:off x="658368" y="2176272"/>
            <a:ext cx="6160313" cy="51206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139,500   Driver assigned</a:t>
            </a:r>
            <a:endParaRPr lang="en-US" sz="1200" dirty="0"/>
          </a:p>
        </p:txBody>
      </p:sp>
      <p:sp>
        <p:nvSpPr>
          <p:cNvPr id="9" name="Shape 7"/>
          <p:cNvSpPr/>
          <p:nvPr/>
        </p:nvSpPr>
        <p:spPr>
          <a:xfrm>
            <a:off x="502920" y="2834640"/>
            <a:ext cx="4705502" cy="512064"/>
          </a:xfrm>
          <a:prstGeom prst="roundRect">
            <a:avLst>
              <a:gd name="adj" fmla="val 7143"/>
            </a:avLst>
          </a:prstGeom>
          <a:solidFill>
            <a:srgbClr val="6F62C4"/>
          </a:solidFill>
          <a:ln w="12700">
            <a:solidFill>
              <a:srgbClr val="6F62C4"/>
            </a:solidFill>
            <a:prstDash val="solid"/>
          </a:ln>
        </p:spPr>
      </p:sp>
      <p:sp>
        <p:nvSpPr>
          <p:cNvPr id="10" name="Text 8"/>
          <p:cNvSpPr txBox="1"/>
          <p:nvPr/>
        </p:nvSpPr>
        <p:spPr>
          <a:xfrm>
            <a:off x="658368" y="2834640"/>
            <a:ext cx="4431182" cy="51206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102,000   Ride started</a:t>
            </a:r>
            <a:endParaRPr lang="en-US" sz="1200" dirty="0"/>
          </a:p>
        </p:txBody>
      </p:sp>
      <p:sp>
        <p:nvSpPr>
          <p:cNvPr id="11" name="Shape 9"/>
          <p:cNvSpPr/>
          <p:nvPr/>
        </p:nvSpPr>
        <p:spPr>
          <a:xfrm>
            <a:off x="502920" y="3493008"/>
            <a:ext cx="4291645" cy="512064"/>
          </a:xfrm>
          <a:prstGeom prst="roundRect">
            <a:avLst>
              <a:gd name="adj" fmla="val 7143"/>
            </a:avLst>
          </a:prstGeom>
          <a:solidFill>
            <a:srgbClr val="008300"/>
          </a:solidFill>
          <a:ln w="12700">
            <a:solidFill>
              <a:srgbClr val="008300"/>
            </a:solidFill>
            <a:prstDash val="solid"/>
          </a:ln>
        </p:spPr>
      </p:sp>
      <p:sp>
        <p:nvSpPr>
          <p:cNvPr id="12" name="Text 10"/>
          <p:cNvSpPr txBox="1"/>
          <p:nvPr/>
        </p:nvSpPr>
        <p:spPr>
          <a:xfrm>
            <a:off x="658368" y="3493008"/>
            <a:ext cx="4017325" cy="51206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93,000   Ride completed</a:t>
            </a:r>
            <a:endParaRPr lang="en-US" sz="1200" dirty="0"/>
          </a:p>
        </p:txBody>
      </p:sp>
      <p:sp>
        <p:nvSpPr>
          <p:cNvPr id="13" name="Text 11"/>
          <p:cNvSpPr txBox="1"/>
          <p:nvPr/>
        </p:nvSpPr>
        <p:spPr>
          <a:xfrm>
            <a:off x="7406640" y="1883664"/>
            <a:ext cx="2377440" cy="365760"/>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−10,500 no driver found</a:t>
            </a:r>
            <a:endParaRPr lang="en-US" sz="1050" dirty="0"/>
          </a:p>
        </p:txBody>
      </p:sp>
      <p:sp>
        <p:nvSpPr>
          <p:cNvPr id="14" name="Text 12"/>
          <p:cNvSpPr txBox="1"/>
          <p:nvPr/>
        </p:nvSpPr>
        <p:spPr>
          <a:xfrm>
            <a:off x="7406640" y="2542032"/>
            <a:ext cx="2377440" cy="365760"/>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−37,500 cancelled</a:t>
            </a:r>
            <a:endParaRPr lang="en-US" sz="1050" dirty="0"/>
          </a:p>
        </p:txBody>
      </p:sp>
      <p:sp>
        <p:nvSpPr>
          <p:cNvPr id="15" name="Text 13"/>
          <p:cNvSpPr txBox="1"/>
          <p:nvPr/>
        </p:nvSpPr>
        <p:spPr>
          <a:xfrm>
            <a:off x="7406640" y="3200400"/>
            <a:ext cx="2377440" cy="365760"/>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−9,000 incomplete</a:t>
            </a:r>
            <a:endParaRPr lang="en-US" sz="1050" dirty="0"/>
          </a:p>
        </p:txBody>
      </p:sp>
      <p:sp>
        <p:nvSpPr>
          <p:cNvPr id="16" name="Text 14"/>
          <p:cNvSpPr txBox="1"/>
          <p:nvPr/>
        </p:nvSpPr>
        <p:spPr>
          <a:xfrm>
            <a:off x="9692640" y="1207008"/>
            <a:ext cx="219456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Revenue at risk, by cause</a:t>
            </a:r>
            <a:endParaRPr lang="en-US" sz="1250" dirty="0"/>
          </a:p>
        </p:txBody>
      </p:sp>
      <p:sp>
        <p:nvSpPr>
          <p:cNvPr id="17" name="Shape 15"/>
          <p:cNvSpPr/>
          <p:nvPr/>
        </p:nvSpPr>
        <p:spPr>
          <a:xfrm>
            <a:off x="9692640" y="1517904"/>
            <a:ext cx="1965960" cy="1060704"/>
          </a:xfrm>
          <a:prstGeom prst="roundRect">
            <a:avLst>
              <a:gd name="adj" fmla="val 4310"/>
            </a:avLst>
          </a:prstGeom>
          <a:solidFill>
            <a:srgbClr val="F4F2FC"/>
          </a:solidFill>
          <a:ln w="12700">
            <a:solidFill>
              <a:srgbClr val="E8E4F6"/>
            </a:solidFill>
            <a:prstDash val="solid"/>
          </a:ln>
        </p:spPr>
      </p:sp>
      <p:sp>
        <p:nvSpPr>
          <p:cNvPr id="18" name="Text 16"/>
          <p:cNvSpPr txBox="1"/>
          <p:nvPr/>
        </p:nvSpPr>
        <p:spPr>
          <a:xfrm>
            <a:off x="9738360" y="1609344"/>
            <a:ext cx="1874520" cy="411480"/>
          </a:xfrm>
          <a:prstGeom prst="rect">
            <a:avLst/>
          </a:prstGeom>
          <a:noFill/>
          <a:ln/>
        </p:spPr>
        <p:txBody>
          <a:bodyPr wrap="square" lIns="0" tIns="0" rIns="0" bIns="0" rtlCol="0" anchor="ctr"/>
          <a:lstStyle/>
          <a:p>
            <a:pPr marL="0" indent="0" algn="ctr">
              <a:buNone/>
            </a:pPr>
            <a:r>
              <a:rPr lang="en-US" sz="2200" b="1" dirty="0">
                <a:solidFill>
                  <a:srgbClr val="1B1140"/>
                </a:solidFill>
                <a:latin typeface="Cambria" pitchFamily="34" charset="0"/>
                <a:ea typeface="Cambria" pitchFamily="34" charset="-122"/>
                <a:cs typeface="Cambria" pitchFamily="34" charset="-120"/>
              </a:rPr>
              <a:t>₹19.1M</a:t>
            </a:r>
            <a:endParaRPr lang="en-US" sz="2200" dirty="0"/>
          </a:p>
        </p:txBody>
      </p:sp>
      <p:sp>
        <p:nvSpPr>
          <p:cNvPr id="19" name="Text 17"/>
          <p:cNvSpPr txBox="1"/>
          <p:nvPr/>
        </p:nvSpPr>
        <p:spPr>
          <a:xfrm>
            <a:off x="9765792" y="2029968"/>
            <a:ext cx="1819656" cy="502920"/>
          </a:xfrm>
          <a:prstGeom prst="rect">
            <a:avLst/>
          </a:prstGeom>
          <a:noFill/>
          <a:ln/>
        </p:spPr>
        <p:txBody>
          <a:bodyPr wrap="square" lIns="0" tIns="0" rIns="0" bIns="0" rtlCol="0" anchor="ctr"/>
          <a:lstStyle/>
          <a:p>
            <a:pPr marL="0" indent="0" algn="ctr">
              <a:lnSpc>
                <a:spcPct val="110000"/>
              </a:lnSpc>
              <a:buNone/>
            </a:pPr>
            <a:r>
              <a:rPr lang="en-US" sz="950" dirty="0">
                <a:solidFill>
                  <a:srgbClr val="5B5670"/>
                </a:solidFill>
                <a:latin typeface="Calibri" pitchFamily="34" charset="0"/>
                <a:ea typeface="Calibri" pitchFamily="34" charset="-122"/>
                <a:cs typeface="Calibri" pitchFamily="34" charset="-120"/>
              </a:rPr>
              <a:t>Supply-side</a:t>
            </a:r>
            <a:endParaRPr lang="en-US" sz="950" dirty="0"/>
          </a:p>
          <a:p>
            <a:pPr marL="0" indent="0" algn="ctr">
              <a:lnSpc>
                <a:spcPct val="110000"/>
              </a:lnSpc>
              <a:buNone/>
            </a:pPr>
            <a:r>
              <a:rPr lang="en-US" sz="950" dirty="0">
                <a:solidFill>
                  <a:srgbClr val="5B5670"/>
                </a:solidFill>
                <a:latin typeface="Calibri" pitchFamily="34" charset="0"/>
                <a:ea typeface="Calibri" pitchFamily="34" charset="-122"/>
                <a:cs typeface="Calibri" pitchFamily="34" charset="-120"/>
              </a:rPr>
              <a:t>(driver cancels + no driver)</a:t>
            </a:r>
            <a:endParaRPr lang="en-US" sz="950" dirty="0"/>
          </a:p>
        </p:txBody>
      </p:sp>
      <p:sp>
        <p:nvSpPr>
          <p:cNvPr id="20" name="Shape 18"/>
          <p:cNvSpPr/>
          <p:nvPr/>
        </p:nvSpPr>
        <p:spPr>
          <a:xfrm>
            <a:off x="9692640" y="2688336"/>
            <a:ext cx="1965960" cy="1060704"/>
          </a:xfrm>
          <a:prstGeom prst="roundRect">
            <a:avLst>
              <a:gd name="adj" fmla="val 4310"/>
            </a:avLst>
          </a:prstGeom>
          <a:solidFill>
            <a:srgbClr val="F4F2FC"/>
          </a:solidFill>
          <a:ln w="12700">
            <a:solidFill>
              <a:srgbClr val="E8E4F6"/>
            </a:solidFill>
            <a:prstDash val="solid"/>
          </a:ln>
        </p:spPr>
      </p:sp>
      <p:sp>
        <p:nvSpPr>
          <p:cNvPr id="21" name="Text 19"/>
          <p:cNvSpPr txBox="1"/>
          <p:nvPr/>
        </p:nvSpPr>
        <p:spPr>
          <a:xfrm>
            <a:off x="9738360" y="2779776"/>
            <a:ext cx="1874520" cy="411480"/>
          </a:xfrm>
          <a:prstGeom prst="rect">
            <a:avLst/>
          </a:prstGeom>
          <a:noFill/>
          <a:ln/>
        </p:spPr>
        <p:txBody>
          <a:bodyPr wrap="square" lIns="0" tIns="0" rIns="0" bIns="0" rtlCol="0" anchor="ctr"/>
          <a:lstStyle/>
          <a:p>
            <a:pPr marL="0" indent="0" algn="ctr">
              <a:buNone/>
            </a:pPr>
            <a:r>
              <a:rPr lang="en-US" sz="2200" b="1" dirty="0">
                <a:solidFill>
                  <a:srgbClr val="1B1140"/>
                </a:solidFill>
                <a:latin typeface="Cambria" pitchFamily="34" charset="0"/>
                <a:ea typeface="Cambria" pitchFamily="34" charset="-122"/>
                <a:cs typeface="Cambria" pitchFamily="34" charset="-120"/>
              </a:rPr>
              <a:t>₹5.3M</a:t>
            </a:r>
            <a:endParaRPr lang="en-US" sz="2200" dirty="0"/>
          </a:p>
        </p:txBody>
      </p:sp>
      <p:sp>
        <p:nvSpPr>
          <p:cNvPr id="22" name="Text 20"/>
          <p:cNvSpPr txBox="1"/>
          <p:nvPr/>
        </p:nvSpPr>
        <p:spPr>
          <a:xfrm>
            <a:off x="9765792" y="3200400"/>
            <a:ext cx="1819656" cy="502920"/>
          </a:xfrm>
          <a:prstGeom prst="rect">
            <a:avLst/>
          </a:prstGeom>
          <a:noFill/>
          <a:ln/>
        </p:spPr>
        <p:txBody>
          <a:bodyPr wrap="square" lIns="0" tIns="0" rIns="0" bIns="0" rtlCol="0" anchor="ctr"/>
          <a:lstStyle/>
          <a:p>
            <a:pPr marL="0" indent="0" algn="ctr">
              <a:lnSpc>
                <a:spcPct val="110000"/>
              </a:lnSpc>
              <a:buNone/>
            </a:pPr>
            <a:r>
              <a:rPr lang="en-US" sz="950" dirty="0">
                <a:solidFill>
                  <a:srgbClr val="5B5670"/>
                </a:solidFill>
                <a:latin typeface="Calibri" pitchFamily="34" charset="0"/>
                <a:ea typeface="Calibri" pitchFamily="34" charset="-122"/>
                <a:cs typeface="Calibri" pitchFamily="34" charset="-120"/>
              </a:rPr>
              <a:t>Customer-side</a:t>
            </a:r>
            <a:endParaRPr lang="en-US" sz="950" dirty="0"/>
          </a:p>
          <a:p>
            <a:pPr marL="0" indent="0" algn="ctr">
              <a:lnSpc>
                <a:spcPct val="110000"/>
              </a:lnSpc>
              <a:buNone/>
            </a:pPr>
            <a:r>
              <a:rPr lang="en-US" sz="950" dirty="0">
                <a:solidFill>
                  <a:srgbClr val="5B5670"/>
                </a:solidFill>
                <a:latin typeface="Calibri" pitchFamily="34" charset="0"/>
                <a:ea typeface="Calibri" pitchFamily="34" charset="-122"/>
                <a:cs typeface="Calibri" pitchFamily="34" charset="-120"/>
              </a:rPr>
              <a:t>cancellations</a:t>
            </a:r>
            <a:endParaRPr lang="en-US" sz="950" dirty="0"/>
          </a:p>
        </p:txBody>
      </p:sp>
      <p:sp>
        <p:nvSpPr>
          <p:cNvPr id="23" name="Text 21"/>
          <p:cNvSpPr txBox="1"/>
          <p:nvPr/>
        </p:nvSpPr>
        <p:spPr>
          <a:xfrm>
            <a:off x="502920" y="4279392"/>
            <a:ext cx="11155680" cy="274320"/>
          </a:xfrm>
          <a:prstGeom prst="rect">
            <a:avLst/>
          </a:prstGeom>
          <a:noFill/>
          <a:ln/>
        </p:spPr>
        <p:txBody>
          <a:bodyPr wrap="square" lIns="0" tIns="0" rIns="0" bIns="0" rtlCol="0" anchor="ctr"/>
          <a:lstStyle/>
          <a:p>
            <a:pPr marL="0" indent="0">
              <a:buNone/>
            </a:pPr>
            <a:r>
              <a:rPr lang="en-US" sz="1100" i="1" dirty="0">
                <a:solidFill>
                  <a:srgbClr val="5B5670"/>
                </a:solidFill>
                <a:latin typeface="Calibri" pitchFamily="34" charset="0"/>
                <a:ea typeface="Calibri" pitchFamily="34" charset="-122"/>
                <a:cs typeface="Calibri" pitchFamily="34" charset="-120"/>
              </a:rPr>
              <a:t>Cancellation rate is flat across the fleet: Go Sedan 25.3% · Bike 25.1% · Auto, Go Mini, Premier Sedan, eBike 24.9% · Uber XL 24.5%</a:t>
            </a:r>
            <a:endParaRPr lang="en-US" sz="1100" dirty="0"/>
          </a:p>
        </p:txBody>
      </p:sp>
      <p:sp>
        <p:nvSpPr>
          <p:cNvPr id="24" name="Shape 22"/>
          <p:cNvSpPr/>
          <p:nvPr/>
        </p:nvSpPr>
        <p:spPr>
          <a:xfrm>
            <a:off x="502920" y="4626864"/>
            <a:ext cx="11155680" cy="1645920"/>
          </a:xfrm>
          <a:prstGeom prst="roundRect">
            <a:avLst>
              <a:gd name="adj" fmla="val 2778"/>
            </a:avLst>
          </a:prstGeom>
          <a:solidFill>
            <a:srgbClr val="FBF6EA"/>
          </a:solidFill>
          <a:ln w="12700">
            <a:solidFill>
              <a:srgbClr val="FBF6EA"/>
            </a:solidFill>
            <a:prstDash val="solid"/>
          </a:ln>
        </p:spPr>
      </p:sp>
      <p:sp>
        <p:nvSpPr>
          <p:cNvPr id="25" name="Shape 23"/>
          <p:cNvSpPr/>
          <p:nvPr/>
        </p:nvSpPr>
        <p:spPr>
          <a:xfrm>
            <a:off x="704088" y="4809744"/>
            <a:ext cx="274320" cy="274320"/>
          </a:xfrm>
          <a:prstGeom prst="ellipse">
            <a:avLst/>
          </a:prstGeom>
          <a:solidFill>
            <a:srgbClr val="EDA100"/>
          </a:solidFill>
          <a:ln w="12700">
            <a:solidFill>
              <a:srgbClr val="EDA100"/>
            </a:solidFill>
            <a:prstDash val="solid"/>
          </a:ln>
        </p:spPr>
      </p:sp>
      <p:sp>
        <p:nvSpPr>
          <p:cNvPr id="26" name="Text 24"/>
          <p:cNvSpPr txBox="1"/>
          <p:nvPr/>
        </p:nvSpPr>
        <p:spPr>
          <a:xfrm>
            <a:off x="704088" y="4809744"/>
            <a:ext cx="274320" cy="274320"/>
          </a:xfrm>
          <a:prstGeom prst="rect">
            <a:avLst/>
          </a:prstGeom>
          <a:noFill/>
          <a:ln/>
        </p:spPr>
        <p:txBody>
          <a:bodyPr wrap="square" lIns="0" tIns="0" rIns="0" bIns="0" rtlCol="0" anchor="ctr"/>
          <a:lstStyle/>
          <a:p>
            <a:pPr marL="0" indent="0" algn="ctr">
              <a:buNone/>
            </a:pPr>
            <a:r>
              <a:rPr lang="en-US" sz="1400" b="1" i="1" dirty="0">
                <a:solidFill>
                  <a:srgbClr val="FFFFFF"/>
                </a:solidFill>
                <a:latin typeface="Cambria" pitchFamily="34" charset="0"/>
                <a:ea typeface="Cambria" pitchFamily="34" charset="-122"/>
                <a:cs typeface="Cambria" pitchFamily="34" charset="-120"/>
              </a:rPr>
              <a:t>i</a:t>
            </a:r>
            <a:endParaRPr lang="en-US" sz="1400" dirty="0"/>
          </a:p>
        </p:txBody>
      </p:sp>
      <p:sp>
        <p:nvSpPr>
          <p:cNvPr id="27" name="Text 25"/>
          <p:cNvSpPr txBox="1"/>
          <p:nvPr/>
        </p:nvSpPr>
        <p:spPr>
          <a:xfrm>
            <a:off x="1097280" y="4773168"/>
            <a:ext cx="1037844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Insight — a five-point completion gain is worth ₹3.8M a year</a:t>
            </a:r>
            <a:endParaRPr lang="en-US" sz="1250" dirty="0"/>
          </a:p>
        </p:txBody>
      </p:sp>
      <p:sp>
        <p:nvSpPr>
          <p:cNvPr id="28" name="Text 26"/>
          <p:cNvSpPr txBox="1"/>
          <p:nvPr/>
        </p:nvSpPr>
        <p:spPr>
          <a:xfrm>
            <a:off x="1097280" y="5047488"/>
            <a:ext cx="10378440" cy="1097280"/>
          </a:xfrm>
          <a:prstGeom prst="rect">
            <a:avLst/>
          </a:prstGeom>
          <a:noFill/>
          <a:ln/>
        </p:spPr>
        <p:txBody>
          <a:bodyPr wrap="square" lIns="0" tIns="0" rIns="0" bIns="0" rtlCol="0" anchor="t"/>
          <a:lstStyle/>
          <a:p>
            <a:pPr marL="0" indent="0">
              <a:lnSpc>
                <a:spcPct val="115000"/>
              </a:lnSpc>
              <a:buNone/>
            </a:pPr>
            <a:r>
              <a:rPr lang="en-US" sz="1150" dirty="0">
                <a:solidFill>
                  <a:srgbClr val="5B5670"/>
                </a:solidFill>
                <a:latin typeface="Calibri" pitchFamily="34" charset="0"/>
                <a:ea typeface="Calibri" pitchFamily="34" charset="-122"/>
                <a:cs typeface="Calibri" pitchFamily="34" charset="-120"/>
              </a:rPr>
              <a:t>Every percentage point of completion rate is worth roughly ₹762,000 at the current ₹508 average ride value, so lifting completion from 62% to 67% returns ₹3.8M without a single additional booking. The full recoverable pool is ₹24.4M, and 78% of it (₹19.1M) sits behind driver supply and acceptance — the same root cause identified on the previous slide. Average vehicle turnaround is already tight at 8.5 minutes, but customer-side turnaround runs 29.1 minutes, which is where the abandonment pressure builds.</a:t>
            </a:r>
            <a:endParaRPr lang="en-US" sz="1150" dirty="0"/>
          </a:p>
        </p:txBody>
      </p:sp>
      <p:sp>
        <p:nvSpPr>
          <p:cNvPr id="29" name="Text 27"/>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30" name="Text 28"/>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315200" cy="219456"/>
          </a:xfrm>
          <a:prstGeom prst="rect">
            <a:avLst/>
          </a:prstGeom>
          <a:noFill/>
          <a:ln/>
        </p:spPr>
        <p:txBody>
          <a:bodyPr wrap="square" lIns="0" tIns="0" rIns="0" bIns="0" rtlCol="0" anchor="ctr"/>
          <a:lstStyle/>
          <a:p>
            <a:pPr marL="0" indent="0">
              <a:buNone/>
            </a:pPr>
            <a:r>
              <a:rPr lang="en-US" sz="1100" b="1" kern="0" spc="200" dirty="0">
                <a:solidFill>
                  <a:srgbClr val="4A3AA7"/>
                </a:solidFill>
                <a:latin typeface="Calibri" pitchFamily="34" charset="0"/>
                <a:ea typeface="Calibri" pitchFamily="34" charset="-122"/>
                <a:cs typeface="Calibri" pitchFamily="34" charset="-120"/>
              </a:rPr>
              <a:t>RATING &amp; QUALITY ASSESSMENT</a:t>
            </a:r>
            <a:endParaRPr lang="en-US" sz="1100" dirty="0"/>
          </a:p>
        </p:txBody>
      </p:sp>
      <p:sp>
        <p:nvSpPr>
          <p:cNvPr id="3" name="Text 1"/>
          <p:cNvSpPr txBox="1"/>
          <p:nvPr/>
        </p:nvSpPr>
        <p:spPr>
          <a:xfrm>
            <a:off x="502920" y="548640"/>
            <a:ext cx="10515600" cy="502920"/>
          </a:xfrm>
          <a:prstGeom prst="rect">
            <a:avLst/>
          </a:prstGeom>
          <a:noFill/>
          <a:ln/>
        </p:spPr>
        <p:txBody>
          <a:bodyPr wrap="square" lIns="0" tIns="0" rIns="0" bIns="0" rtlCol="0" anchor="ctr"/>
          <a:lstStyle/>
          <a:p>
            <a:pPr marL="0" indent="0">
              <a:buNone/>
            </a:pPr>
            <a:r>
              <a:rPr lang="en-US" sz="3000" b="1" dirty="0">
                <a:solidFill>
                  <a:srgbClr val="1B1140"/>
                </a:solidFill>
                <a:latin typeface="Cambria" pitchFamily="34" charset="0"/>
                <a:ea typeface="Cambria" pitchFamily="34" charset="-122"/>
                <a:cs typeface="Cambria" pitchFamily="34" charset="-120"/>
              </a:rPr>
              <a:t>Satisfactory scores, almost no excellence</a:t>
            </a:r>
            <a:endParaRPr lang="en-US" sz="3000" dirty="0"/>
          </a:p>
        </p:txBody>
      </p:sp>
      <p:sp>
        <p:nvSpPr>
          <p:cNvPr id="4" name="Shape 2"/>
          <p:cNvSpPr/>
          <p:nvPr/>
        </p:nvSpPr>
        <p:spPr>
          <a:xfrm>
            <a:off x="502920" y="1298448"/>
            <a:ext cx="2743200" cy="1234440"/>
          </a:xfrm>
          <a:prstGeom prst="roundRect">
            <a:avLst>
              <a:gd name="adj" fmla="val 4444"/>
            </a:avLst>
          </a:prstGeom>
          <a:solidFill>
            <a:srgbClr val="F4F2FC"/>
          </a:solidFill>
          <a:ln w="12700">
            <a:solidFill>
              <a:srgbClr val="E8E4F6"/>
            </a:solidFill>
            <a:prstDash val="solid"/>
          </a:ln>
        </p:spPr>
      </p:sp>
      <p:sp>
        <p:nvSpPr>
          <p:cNvPr id="5" name="Text 3"/>
          <p:cNvSpPr txBox="1"/>
          <p:nvPr/>
        </p:nvSpPr>
        <p:spPr>
          <a:xfrm>
            <a:off x="521208" y="1426464"/>
            <a:ext cx="2706624" cy="641909"/>
          </a:xfrm>
          <a:prstGeom prst="rect">
            <a:avLst/>
          </a:prstGeom>
          <a:noFill/>
          <a:ln/>
        </p:spPr>
        <p:txBody>
          <a:bodyPr wrap="square" lIns="0" tIns="0" rIns="0" bIns="0" rtlCol="0" anchor="ctr"/>
          <a:lstStyle/>
          <a:p>
            <a:pPr marL="0" indent="0" algn="ctr">
              <a:buNone/>
            </a:pPr>
            <a:r>
              <a:rPr lang="en-US" sz="4000" b="1" dirty="0">
                <a:solidFill>
                  <a:srgbClr val="4A3AA7"/>
                </a:solidFill>
                <a:latin typeface="Cambria" pitchFamily="34" charset="0"/>
                <a:ea typeface="Cambria" pitchFamily="34" charset="-122"/>
                <a:cs typeface="Cambria" pitchFamily="34" charset="-120"/>
              </a:rPr>
              <a:t>4.23</a:t>
            </a:r>
            <a:endParaRPr lang="en-US" sz="4000" dirty="0"/>
          </a:p>
        </p:txBody>
      </p:sp>
      <p:sp>
        <p:nvSpPr>
          <p:cNvPr id="6" name="Text 4"/>
          <p:cNvSpPr txBox="1"/>
          <p:nvPr/>
        </p:nvSpPr>
        <p:spPr>
          <a:xfrm>
            <a:off x="557784" y="2039112"/>
            <a:ext cx="2633472" cy="3950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Average driver rating</a:t>
            </a:r>
            <a:endParaRPr lang="en-US" sz="1000" dirty="0"/>
          </a:p>
          <a:p>
            <a:pPr marL="0" indent="0" algn="ctr">
              <a:buNone/>
            </a:pPr>
            <a:r>
              <a:rPr lang="en-US" sz="1000" dirty="0">
                <a:solidFill>
                  <a:srgbClr val="5B5670"/>
                </a:solidFill>
                <a:latin typeface="Calibri" pitchFamily="34" charset="0"/>
                <a:ea typeface="Calibri" pitchFamily="34" charset="-122"/>
                <a:cs typeface="Calibri" pitchFamily="34" charset="-120"/>
              </a:rPr>
              <a:t>across 93,000 rated rides</a:t>
            </a:r>
            <a:endParaRPr lang="en-US" sz="1000" dirty="0"/>
          </a:p>
        </p:txBody>
      </p:sp>
      <p:sp>
        <p:nvSpPr>
          <p:cNvPr id="7" name="Shape 5"/>
          <p:cNvSpPr/>
          <p:nvPr/>
        </p:nvSpPr>
        <p:spPr>
          <a:xfrm>
            <a:off x="3429000" y="1298448"/>
            <a:ext cx="2743200" cy="1234440"/>
          </a:xfrm>
          <a:prstGeom prst="roundRect">
            <a:avLst>
              <a:gd name="adj" fmla="val 4444"/>
            </a:avLst>
          </a:prstGeom>
          <a:solidFill>
            <a:srgbClr val="F4F2FC"/>
          </a:solidFill>
          <a:ln w="12700">
            <a:solidFill>
              <a:srgbClr val="E8E4F6"/>
            </a:solidFill>
            <a:prstDash val="solid"/>
          </a:ln>
        </p:spPr>
      </p:sp>
      <p:sp>
        <p:nvSpPr>
          <p:cNvPr id="8" name="Text 6"/>
          <p:cNvSpPr txBox="1"/>
          <p:nvPr/>
        </p:nvSpPr>
        <p:spPr>
          <a:xfrm>
            <a:off x="3447288" y="1426464"/>
            <a:ext cx="2706624" cy="641909"/>
          </a:xfrm>
          <a:prstGeom prst="rect">
            <a:avLst/>
          </a:prstGeom>
          <a:noFill/>
          <a:ln/>
        </p:spPr>
        <p:txBody>
          <a:bodyPr wrap="square" lIns="0" tIns="0" rIns="0" bIns="0" rtlCol="0" anchor="ctr"/>
          <a:lstStyle/>
          <a:p>
            <a:pPr marL="0" indent="0" algn="ctr">
              <a:buNone/>
            </a:pPr>
            <a:r>
              <a:rPr lang="en-US" sz="4000" b="1" dirty="0">
                <a:solidFill>
                  <a:srgbClr val="EB6834"/>
                </a:solidFill>
                <a:latin typeface="Cambria" pitchFamily="34" charset="0"/>
                <a:ea typeface="Cambria" pitchFamily="34" charset="-122"/>
                <a:cs typeface="Cambria" pitchFamily="34" charset="-120"/>
              </a:rPr>
              <a:t>4.40</a:t>
            </a:r>
            <a:endParaRPr lang="en-US" sz="4000" dirty="0"/>
          </a:p>
        </p:txBody>
      </p:sp>
      <p:sp>
        <p:nvSpPr>
          <p:cNvPr id="9" name="Text 7"/>
          <p:cNvSpPr txBox="1"/>
          <p:nvPr/>
        </p:nvSpPr>
        <p:spPr>
          <a:xfrm>
            <a:off x="3483864" y="2039112"/>
            <a:ext cx="2633472" cy="3950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Average customer rating</a:t>
            </a:r>
            <a:endParaRPr lang="en-US" sz="1000" dirty="0"/>
          </a:p>
          <a:p>
            <a:pPr marL="0" indent="0" algn="ctr">
              <a:buNone/>
            </a:pPr>
            <a:r>
              <a:rPr lang="en-US" sz="1000" dirty="0">
                <a:solidFill>
                  <a:srgbClr val="5B5670"/>
                </a:solidFill>
                <a:latin typeface="Calibri" pitchFamily="34" charset="0"/>
                <a:ea typeface="Calibri" pitchFamily="34" charset="-122"/>
                <a:cs typeface="Calibri" pitchFamily="34" charset="-120"/>
              </a:rPr>
              <a:t>across 93,000 rated rides</a:t>
            </a:r>
            <a:endParaRPr lang="en-US" sz="1000" dirty="0"/>
          </a:p>
        </p:txBody>
      </p:sp>
      <p:sp>
        <p:nvSpPr>
          <p:cNvPr id="10" name="Shape 8"/>
          <p:cNvSpPr/>
          <p:nvPr/>
        </p:nvSpPr>
        <p:spPr>
          <a:xfrm>
            <a:off x="6355080" y="1298448"/>
            <a:ext cx="2560320" cy="1234440"/>
          </a:xfrm>
          <a:prstGeom prst="roundRect">
            <a:avLst>
              <a:gd name="adj" fmla="val 4444"/>
            </a:avLst>
          </a:prstGeom>
          <a:solidFill>
            <a:srgbClr val="F4F2FC"/>
          </a:solidFill>
          <a:ln w="12700">
            <a:solidFill>
              <a:srgbClr val="E8E4F6"/>
            </a:solidFill>
            <a:prstDash val="solid"/>
          </a:ln>
        </p:spPr>
      </p:sp>
      <p:sp>
        <p:nvSpPr>
          <p:cNvPr id="11" name="Text 9"/>
          <p:cNvSpPr txBox="1"/>
          <p:nvPr/>
        </p:nvSpPr>
        <p:spPr>
          <a:xfrm>
            <a:off x="6373368" y="1426464"/>
            <a:ext cx="2523744" cy="641909"/>
          </a:xfrm>
          <a:prstGeom prst="rect">
            <a:avLst/>
          </a:prstGeom>
          <a:noFill/>
          <a:ln/>
        </p:spPr>
        <p:txBody>
          <a:bodyPr wrap="square" lIns="0" tIns="0" rIns="0" bIns="0" rtlCol="0" anchor="ctr"/>
          <a:lstStyle/>
          <a:p>
            <a:pPr marL="0" indent="0" algn="ctr">
              <a:buNone/>
            </a:pPr>
            <a:r>
              <a:rPr lang="en-US" sz="4000" b="1" dirty="0">
                <a:solidFill>
                  <a:srgbClr val="1B1140"/>
                </a:solidFill>
                <a:latin typeface="Cambria" pitchFamily="34" charset="0"/>
                <a:ea typeface="Cambria" pitchFamily="34" charset="-122"/>
                <a:cs typeface="Cambria" pitchFamily="34" charset="-120"/>
              </a:rPr>
              <a:t>+0.17</a:t>
            </a:r>
            <a:endParaRPr lang="en-US" sz="4000" dirty="0"/>
          </a:p>
        </p:txBody>
      </p:sp>
      <p:sp>
        <p:nvSpPr>
          <p:cNvPr id="12" name="Text 10"/>
          <p:cNvSpPr txBox="1"/>
          <p:nvPr/>
        </p:nvSpPr>
        <p:spPr>
          <a:xfrm>
            <a:off x="6409944" y="2039112"/>
            <a:ext cx="2450592" cy="3950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Rating gap — customers are</a:t>
            </a:r>
            <a:endParaRPr lang="en-US" sz="1000" dirty="0"/>
          </a:p>
          <a:p>
            <a:pPr marL="0" indent="0" algn="ctr">
              <a:buNone/>
            </a:pPr>
            <a:r>
              <a:rPr lang="en-US" sz="1000" dirty="0">
                <a:solidFill>
                  <a:srgbClr val="5B5670"/>
                </a:solidFill>
                <a:latin typeface="Calibri" pitchFamily="34" charset="0"/>
                <a:ea typeface="Calibri" pitchFamily="34" charset="-122"/>
                <a:cs typeface="Calibri" pitchFamily="34" charset="-120"/>
              </a:rPr>
              <a:t>rated higher than drivers</a:t>
            </a:r>
            <a:endParaRPr lang="en-US" sz="1000" dirty="0"/>
          </a:p>
        </p:txBody>
      </p:sp>
      <p:sp>
        <p:nvSpPr>
          <p:cNvPr id="13" name="Shape 11"/>
          <p:cNvSpPr/>
          <p:nvPr/>
        </p:nvSpPr>
        <p:spPr>
          <a:xfrm>
            <a:off x="9098280" y="1298448"/>
            <a:ext cx="2560320" cy="1234440"/>
          </a:xfrm>
          <a:prstGeom prst="roundRect">
            <a:avLst>
              <a:gd name="adj" fmla="val 4444"/>
            </a:avLst>
          </a:prstGeom>
          <a:solidFill>
            <a:srgbClr val="F4F2FC"/>
          </a:solidFill>
          <a:ln w="12700">
            <a:solidFill>
              <a:srgbClr val="E8E4F6"/>
            </a:solidFill>
            <a:prstDash val="solid"/>
          </a:ln>
        </p:spPr>
      </p:sp>
      <p:sp>
        <p:nvSpPr>
          <p:cNvPr id="14" name="Text 12"/>
          <p:cNvSpPr txBox="1"/>
          <p:nvPr/>
        </p:nvSpPr>
        <p:spPr>
          <a:xfrm>
            <a:off x="9116568" y="1426464"/>
            <a:ext cx="2523744" cy="641909"/>
          </a:xfrm>
          <a:prstGeom prst="rect">
            <a:avLst/>
          </a:prstGeom>
          <a:noFill/>
          <a:ln/>
        </p:spPr>
        <p:txBody>
          <a:bodyPr wrap="square" lIns="0" tIns="0" rIns="0" bIns="0" rtlCol="0" anchor="ctr"/>
          <a:lstStyle/>
          <a:p>
            <a:pPr marL="0" indent="0" algn="ctr">
              <a:buNone/>
            </a:pPr>
            <a:r>
              <a:rPr lang="en-US" sz="4000" b="1" dirty="0">
                <a:solidFill>
                  <a:srgbClr val="C0392B"/>
                </a:solidFill>
                <a:latin typeface="Cambria" pitchFamily="34" charset="0"/>
                <a:ea typeface="Cambria" pitchFamily="34" charset="-122"/>
                <a:cs typeface="Cambria" pitchFamily="34" charset="-120"/>
              </a:rPr>
              <a:t>2.5%</a:t>
            </a:r>
            <a:endParaRPr lang="en-US" sz="4000" dirty="0"/>
          </a:p>
        </p:txBody>
      </p:sp>
      <p:sp>
        <p:nvSpPr>
          <p:cNvPr id="15" name="Text 13"/>
          <p:cNvSpPr txBox="1"/>
          <p:nvPr/>
        </p:nvSpPr>
        <p:spPr>
          <a:xfrm>
            <a:off x="9153144" y="2039112"/>
            <a:ext cx="2450592" cy="395021"/>
          </a:xfrm>
          <a:prstGeom prst="rect">
            <a:avLst/>
          </a:prstGeom>
          <a:noFill/>
          <a:ln/>
        </p:spPr>
        <p:txBody>
          <a:bodyPr wrap="square" lIns="0" tIns="0" rIns="0" bIns="0" rtlCol="0" anchor="t"/>
          <a:lstStyle/>
          <a:p>
            <a:pPr marL="0" indent="0" algn="ctr">
              <a:buNone/>
            </a:pPr>
            <a:r>
              <a:rPr lang="en-US" sz="1000" dirty="0">
                <a:solidFill>
                  <a:srgbClr val="5B5670"/>
                </a:solidFill>
                <a:latin typeface="Calibri" pitchFamily="34" charset="0"/>
                <a:ea typeface="Calibri" pitchFamily="34" charset="-122"/>
                <a:cs typeface="Calibri" pitchFamily="34" charset="-120"/>
              </a:rPr>
              <a:t>Share of rides earning</a:t>
            </a:r>
            <a:endParaRPr lang="en-US" sz="1000" dirty="0"/>
          </a:p>
          <a:p>
            <a:pPr marL="0" indent="0" algn="ctr">
              <a:buNone/>
            </a:pPr>
            <a:r>
              <a:rPr lang="en-US" sz="1000" dirty="0">
                <a:solidFill>
                  <a:srgbClr val="5B5670"/>
                </a:solidFill>
                <a:latin typeface="Calibri" pitchFamily="34" charset="0"/>
                <a:ea typeface="Calibri" pitchFamily="34" charset="-122"/>
                <a:cs typeface="Calibri" pitchFamily="34" charset="-120"/>
              </a:rPr>
              <a:t>a 5★ driver rating</a:t>
            </a:r>
            <a:endParaRPr lang="en-US" sz="1000" dirty="0"/>
          </a:p>
        </p:txBody>
      </p:sp>
      <p:sp>
        <p:nvSpPr>
          <p:cNvPr id="16" name="Text 14"/>
          <p:cNvSpPr txBox="1"/>
          <p:nvPr/>
        </p:nvSpPr>
        <p:spPr>
          <a:xfrm>
            <a:off x="502920" y="2724912"/>
            <a:ext cx="640080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Rating distribution — driver vs. customer (% of rated rides)</a:t>
            </a:r>
            <a:endParaRPr lang="en-US" sz="1250" dirty="0"/>
          </a:p>
        </p:txBody>
      </p:sp>
      <p:graphicFrame>
        <p:nvGraphicFramePr>
          <p:cNvPr id="17" name="Chart 0"/>
          <p:cNvGraphicFramePr/>
          <p:nvPr/>
        </p:nvGraphicFramePr>
        <p:xfrm>
          <a:off x="411480" y="2999232"/>
          <a:ext cx="685800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txBox="1"/>
          <p:nvPr/>
        </p:nvSpPr>
        <p:spPr>
          <a:xfrm>
            <a:off x="7543800" y="2724912"/>
            <a:ext cx="4114800" cy="256032"/>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Average rating by vehicle type</a:t>
            </a:r>
            <a:endParaRPr lang="en-US" sz="1250" dirty="0"/>
          </a:p>
        </p:txBody>
      </p:sp>
      <p:sp>
        <p:nvSpPr>
          <p:cNvPr id="19" name="Shape 16"/>
          <p:cNvSpPr/>
          <p:nvPr/>
        </p:nvSpPr>
        <p:spPr>
          <a:xfrm>
            <a:off x="7543800" y="2999232"/>
            <a:ext cx="4114800" cy="292608"/>
          </a:xfrm>
          <a:prstGeom prst="rect">
            <a:avLst/>
          </a:prstGeom>
          <a:solidFill>
            <a:srgbClr val="1B1140"/>
          </a:solidFill>
          <a:ln w="12700">
            <a:solidFill>
              <a:srgbClr val="1B1140"/>
            </a:solidFill>
            <a:prstDash val="solid"/>
          </a:ln>
        </p:spPr>
      </p:sp>
      <p:sp>
        <p:nvSpPr>
          <p:cNvPr id="20" name="Text 17"/>
          <p:cNvSpPr txBox="1"/>
          <p:nvPr/>
        </p:nvSpPr>
        <p:spPr>
          <a:xfrm>
            <a:off x="7635240" y="2999232"/>
            <a:ext cx="1828800"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Vehicle</a:t>
            </a:r>
            <a:endParaRPr lang="en-US" sz="1000" dirty="0"/>
          </a:p>
        </p:txBody>
      </p:sp>
      <p:sp>
        <p:nvSpPr>
          <p:cNvPr id="21" name="Text 18"/>
          <p:cNvSpPr txBox="1"/>
          <p:nvPr/>
        </p:nvSpPr>
        <p:spPr>
          <a:xfrm>
            <a:off x="9464040" y="2999232"/>
            <a:ext cx="1005840" cy="29260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Driver</a:t>
            </a:r>
            <a:endParaRPr lang="en-US" sz="1000" dirty="0"/>
          </a:p>
        </p:txBody>
      </p:sp>
      <p:sp>
        <p:nvSpPr>
          <p:cNvPr id="22" name="Text 19"/>
          <p:cNvSpPr txBox="1"/>
          <p:nvPr/>
        </p:nvSpPr>
        <p:spPr>
          <a:xfrm>
            <a:off x="10469880" y="2999232"/>
            <a:ext cx="1097280" cy="292608"/>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Customer</a:t>
            </a:r>
            <a:endParaRPr lang="en-US" sz="1000" dirty="0"/>
          </a:p>
        </p:txBody>
      </p:sp>
      <p:sp>
        <p:nvSpPr>
          <p:cNvPr id="23" name="Shape 20"/>
          <p:cNvSpPr/>
          <p:nvPr/>
        </p:nvSpPr>
        <p:spPr>
          <a:xfrm>
            <a:off x="7543800" y="3291840"/>
            <a:ext cx="4114800" cy="224028"/>
          </a:xfrm>
          <a:prstGeom prst="rect">
            <a:avLst/>
          </a:prstGeom>
          <a:solidFill>
            <a:srgbClr val="F4F2FC"/>
          </a:solidFill>
          <a:ln w="12700">
            <a:solidFill>
              <a:srgbClr val="F4F2FC"/>
            </a:solidFill>
            <a:prstDash val="solid"/>
          </a:ln>
        </p:spPr>
      </p:sp>
      <p:sp>
        <p:nvSpPr>
          <p:cNvPr id="24" name="Text 21"/>
          <p:cNvSpPr txBox="1"/>
          <p:nvPr/>
        </p:nvSpPr>
        <p:spPr>
          <a:xfrm>
            <a:off x="7635240" y="3291840"/>
            <a:ext cx="1828800" cy="22402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Auto</a:t>
            </a:r>
            <a:endParaRPr lang="en-US" sz="1000" dirty="0"/>
          </a:p>
        </p:txBody>
      </p:sp>
      <p:sp>
        <p:nvSpPr>
          <p:cNvPr id="25" name="Text 22"/>
          <p:cNvSpPr txBox="1"/>
          <p:nvPr/>
        </p:nvSpPr>
        <p:spPr>
          <a:xfrm>
            <a:off x="9464040" y="3291840"/>
            <a:ext cx="100584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4.23</a:t>
            </a:r>
            <a:endParaRPr lang="en-US" sz="1000" dirty="0"/>
          </a:p>
        </p:txBody>
      </p:sp>
      <p:sp>
        <p:nvSpPr>
          <p:cNvPr id="26" name="Text 23"/>
          <p:cNvSpPr txBox="1"/>
          <p:nvPr/>
        </p:nvSpPr>
        <p:spPr>
          <a:xfrm>
            <a:off x="10469880" y="3291840"/>
            <a:ext cx="109728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4.40</a:t>
            </a:r>
            <a:endParaRPr lang="en-US" sz="1000" dirty="0"/>
          </a:p>
        </p:txBody>
      </p:sp>
      <p:sp>
        <p:nvSpPr>
          <p:cNvPr id="27" name="Text 24"/>
          <p:cNvSpPr txBox="1"/>
          <p:nvPr/>
        </p:nvSpPr>
        <p:spPr>
          <a:xfrm>
            <a:off x="7635240" y="3515868"/>
            <a:ext cx="1828800" cy="22402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Go Mini</a:t>
            </a:r>
            <a:endParaRPr lang="en-US" sz="1000" dirty="0"/>
          </a:p>
        </p:txBody>
      </p:sp>
      <p:sp>
        <p:nvSpPr>
          <p:cNvPr id="28" name="Text 25"/>
          <p:cNvSpPr txBox="1"/>
          <p:nvPr/>
        </p:nvSpPr>
        <p:spPr>
          <a:xfrm>
            <a:off x="9464040" y="3515868"/>
            <a:ext cx="100584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4.23</a:t>
            </a:r>
            <a:endParaRPr lang="en-US" sz="1000" dirty="0"/>
          </a:p>
        </p:txBody>
      </p:sp>
      <p:sp>
        <p:nvSpPr>
          <p:cNvPr id="29" name="Text 26"/>
          <p:cNvSpPr txBox="1"/>
          <p:nvPr/>
        </p:nvSpPr>
        <p:spPr>
          <a:xfrm>
            <a:off x="10469880" y="3515868"/>
            <a:ext cx="109728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4.40</a:t>
            </a:r>
            <a:endParaRPr lang="en-US" sz="1000" dirty="0"/>
          </a:p>
        </p:txBody>
      </p:sp>
      <p:sp>
        <p:nvSpPr>
          <p:cNvPr id="30" name="Shape 27"/>
          <p:cNvSpPr/>
          <p:nvPr/>
        </p:nvSpPr>
        <p:spPr>
          <a:xfrm>
            <a:off x="7543800" y="3739896"/>
            <a:ext cx="4114800" cy="224028"/>
          </a:xfrm>
          <a:prstGeom prst="rect">
            <a:avLst/>
          </a:prstGeom>
          <a:solidFill>
            <a:srgbClr val="F4F2FC"/>
          </a:solidFill>
          <a:ln w="12700">
            <a:solidFill>
              <a:srgbClr val="F4F2FC"/>
            </a:solidFill>
            <a:prstDash val="solid"/>
          </a:ln>
        </p:spPr>
      </p:sp>
      <p:sp>
        <p:nvSpPr>
          <p:cNvPr id="31" name="Text 28"/>
          <p:cNvSpPr txBox="1"/>
          <p:nvPr/>
        </p:nvSpPr>
        <p:spPr>
          <a:xfrm>
            <a:off x="7635240" y="3739896"/>
            <a:ext cx="1828800" cy="22402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Go Sedan</a:t>
            </a:r>
            <a:endParaRPr lang="en-US" sz="1000" dirty="0"/>
          </a:p>
        </p:txBody>
      </p:sp>
      <p:sp>
        <p:nvSpPr>
          <p:cNvPr id="32" name="Text 29"/>
          <p:cNvSpPr txBox="1"/>
          <p:nvPr/>
        </p:nvSpPr>
        <p:spPr>
          <a:xfrm>
            <a:off x="9464040" y="3739896"/>
            <a:ext cx="100584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4.23</a:t>
            </a:r>
            <a:endParaRPr lang="en-US" sz="1000" dirty="0"/>
          </a:p>
        </p:txBody>
      </p:sp>
      <p:sp>
        <p:nvSpPr>
          <p:cNvPr id="33" name="Text 30"/>
          <p:cNvSpPr txBox="1"/>
          <p:nvPr/>
        </p:nvSpPr>
        <p:spPr>
          <a:xfrm>
            <a:off x="10469880" y="3739896"/>
            <a:ext cx="109728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4.41</a:t>
            </a:r>
            <a:endParaRPr lang="en-US" sz="1000" dirty="0"/>
          </a:p>
        </p:txBody>
      </p:sp>
      <p:sp>
        <p:nvSpPr>
          <p:cNvPr id="34" name="Text 31"/>
          <p:cNvSpPr txBox="1"/>
          <p:nvPr/>
        </p:nvSpPr>
        <p:spPr>
          <a:xfrm>
            <a:off x="7635240" y="3963924"/>
            <a:ext cx="1828800" cy="22402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Bike</a:t>
            </a:r>
            <a:endParaRPr lang="en-US" sz="1000" dirty="0"/>
          </a:p>
        </p:txBody>
      </p:sp>
      <p:sp>
        <p:nvSpPr>
          <p:cNvPr id="35" name="Text 32"/>
          <p:cNvSpPr txBox="1"/>
          <p:nvPr/>
        </p:nvSpPr>
        <p:spPr>
          <a:xfrm>
            <a:off x="9464040" y="3963924"/>
            <a:ext cx="100584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4.23</a:t>
            </a:r>
            <a:endParaRPr lang="en-US" sz="1000" dirty="0"/>
          </a:p>
        </p:txBody>
      </p:sp>
      <p:sp>
        <p:nvSpPr>
          <p:cNvPr id="36" name="Text 33"/>
          <p:cNvSpPr txBox="1"/>
          <p:nvPr/>
        </p:nvSpPr>
        <p:spPr>
          <a:xfrm>
            <a:off x="10469880" y="3963924"/>
            <a:ext cx="109728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4.40</a:t>
            </a:r>
            <a:endParaRPr lang="en-US" sz="1000" dirty="0"/>
          </a:p>
        </p:txBody>
      </p:sp>
      <p:sp>
        <p:nvSpPr>
          <p:cNvPr id="37" name="Shape 34"/>
          <p:cNvSpPr/>
          <p:nvPr/>
        </p:nvSpPr>
        <p:spPr>
          <a:xfrm>
            <a:off x="7543800" y="4187952"/>
            <a:ext cx="4114800" cy="224028"/>
          </a:xfrm>
          <a:prstGeom prst="rect">
            <a:avLst/>
          </a:prstGeom>
          <a:solidFill>
            <a:srgbClr val="F4F2FC"/>
          </a:solidFill>
          <a:ln w="12700">
            <a:solidFill>
              <a:srgbClr val="F4F2FC"/>
            </a:solidFill>
            <a:prstDash val="solid"/>
          </a:ln>
        </p:spPr>
      </p:sp>
      <p:sp>
        <p:nvSpPr>
          <p:cNvPr id="38" name="Text 35"/>
          <p:cNvSpPr txBox="1"/>
          <p:nvPr/>
        </p:nvSpPr>
        <p:spPr>
          <a:xfrm>
            <a:off x="7635240" y="4187952"/>
            <a:ext cx="1828800" cy="22402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Premier Sedan</a:t>
            </a:r>
            <a:endParaRPr lang="en-US" sz="1000" dirty="0"/>
          </a:p>
        </p:txBody>
      </p:sp>
      <p:sp>
        <p:nvSpPr>
          <p:cNvPr id="39" name="Text 36"/>
          <p:cNvSpPr txBox="1"/>
          <p:nvPr/>
        </p:nvSpPr>
        <p:spPr>
          <a:xfrm>
            <a:off x="9464040" y="4187952"/>
            <a:ext cx="100584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4.23</a:t>
            </a:r>
            <a:endParaRPr lang="en-US" sz="1000" dirty="0"/>
          </a:p>
        </p:txBody>
      </p:sp>
      <p:sp>
        <p:nvSpPr>
          <p:cNvPr id="40" name="Text 37"/>
          <p:cNvSpPr txBox="1"/>
          <p:nvPr/>
        </p:nvSpPr>
        <p:spPr>
          <a:xfrm>
            <a:off x="10469880" y="4187952"/>
            <a:ext cx="109728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4.40</a:t>
            </a:r>
            <a:endParaRPr lang="en-US" sz="1000" dirty="0"/>
          </a:p>
        </p:txBody>
      </p:sp>
      <p:sp>
        <p:nvSpPr>
          <p:cNvPr id="41" name="Text 38"/>
          <p:cNvSpPr txBox="1"/>
          <p:nvPr/>
        </p:nvSpPr>
        <p:spPr>
          <a:xfrm>
            <a:off x="7635240" y="4411980"/>
            <a:ext cx="1828800" cy="22402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eBike</a:t>
            </a:r>
            <a:endParaRPr lang="en-US" sz="1000" dirty="0"/>
          </a:p>
        </p:txBody>
      </p:sp>
      <p:sp>
        <p:nvSpPr>
          <p:cNvPr id="42" name="Text 39"/>
          <p:cNvSpPr txBox="1"/>
          <p:nvPr/>
        </p:nvSpPr>
        <p:spPr>
          <a:xfrm>
            <a:off x="9464040" y="4411980"/>
            <a:ext cx="100584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4.23</a:t>
            </a:r>
            <a:endParaRPr lang="en-US" sz="1000" dirty="0"/>
          </a:p>
        </p:txBody>
      </p:sp>
      <p:sp>
        <p:nvSpPr>
          <p:cNvPr id="43" name="Text 40"/>
          <p:cNvSpPr txBox="1"/>
          <p:nvPr/>
        </p:nvSpPr>
        <p:spPr>
          <a:xfrm>
            <a:off x="10469880" y="4411980"/>
            <a:ext cx="109728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4.40</a:t>
            </a:r>
            <a:endParaRPr lang="en-US" sz="1000" dirty="0"/>
          </a:p>
        </p:txBody>
      </p:sp>
      <p:sp>
        <p:nvSpPr>
          <p:cNvPr id="44" name="Shape 41"/>
          <p:cNvSpPr/>
          <p:nvPr/>
        </p:nvSpPr>
        <p:spPr>
          <a:xfrm>
            <a:off x="7543800" y="4636008"/>
            <a:ext cx="4114800" cy="224028"/>
          </a:xfrm>
          <a:prstGeom prst="rect">
            <a:avLst/>
          </a:prstGeom>
          <a:solidFill>
            <a:srgbClr val="F4F2FC"/>
          </a:solidFill>
          <a:ln w="12700">
            <a:solidFill>
              <a:srgbClr val="F4F2FC"/>
            </a:solidFill>
            <a:prstDash val="solid"/>
          </a:ln>
        </p:spPr>
      </p:sp>
      <p:sp>
        <p:nvSpPr>
          <p:cNvPr id="45" name="Text 42"/>
          <p:cNvSpPr txBox="1"/>
          <p:nvPr/>
        </p:nvSpPr>
        <p:spPr>
          <a:xfrm>
            <a:off x="7635240" y="4636008"/>
            <a:ext cx="1828800" cy="22402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Uber XL</a:t>
            </a:r>
            <a:endParaRPr lang="en-US" sz="1000" dirty="0"/>
          </a:p>
        </p:txBody>
      </p:sp>
      <p:sp>
        <p:nvSpPr>
          <p:cNvPr id="46" name="Text 43"/>
          <p:cNvSpPr txBox="1"/>
          <p:nvPr/>
        </p:nvSpPr>
        <p:spPr>
          <a:xfrm>
            <a:off x="9464040" y="4636008"/>
            <a:ext cx="100584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4.24</a:t>
            </a:r>
            <a:endParaRPr lang="en-US" sz="1000" dirty="0"/>
          </a:p>
        </p:txBody>
      </p:sp>
      <p:sp>
        <p:nvSpPr>
          <p:cNvPr id="47" name="Text 44"/>
          <p:cNvSpPr txBox="1"/>
          <p:nvPr/>
        </p:nvSpPr>
        <p:spPr>
          <a:xfrm>
            <a:off x="10469880" y="4636008"/>
            <a:ext cx="1097280" cy="22402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4.40</a:t>
            </a:r>
            <a:endParaRPr lang="en-US" sz="1000" dirty="0"/>
          </a:p>
        </p:txBody>
      </p:sp>
      <p:sp>
        <p:nvSpPr>
          <p:cNvPr id="48" name="Shape 45"/>
          <p:cNvSpPr/>
          <p:nvPr/>
        </p:nvSpPr>
        <p:spPr>
          <a:xfrm>
            <a:off x="502920" y="5010912"/>
            <a:ext cx="6766560" cy="1261872"/>
          </a:xfrm>
          <a:prstGeom prst="roundRect">
            <a:avLst>
              <a:gd name="adj" fmla="val 3623"/>
            </a:avLst>
          </a:prstGeom>
          <a:solidFill>
            <a:srgbClr val="F4F2FC"/>
          </a:solidFill>
          <a:ln w="12700">
            <a:solidFill>
              <a:srgbClr val="F4F2FC"/>
            </a:solidFill>
            <a:prstDash val="solid"/>
          </a:ln>
        </p:spPr>
      </p:sp>
      <p:sp>
        <p:nvSpPr>
          <p:cNvPr id="49" name="Shape 46"/>
          <p:cNvSpPr/>
          <p:nvPr/>
        </p:nvSpPr>
        <p:spPr>
          <a:xfrm>
            <a:off x="704088" y="5193792"/>
            <a:ext cx="274320" cy="274320"/>
          </a:xfrm>
          <a:prstGeom prst="ellipse">
            <a:avLst/>
          </a:prstGeom>
          <a:solidFill>
            <a:srgbClr val="4A3AA7"/>
          </a:solidFill>
          <a:ln w="12700">
            <a:solidFill>
              <a:srgbClr val="4A3AA7"/>
            </a:solidFill>
            <a:prstDash val="solid"/>
          </a:ln>
        </p:spPr>
      </p:sp>
      <p:sp>
        <p:nvSpPr>
          <p:cNvPr id="50" name="Text 47"/>
          <p:cNvSpPr txBox="1"/>
          <p:nvPr/>
        </p:nvSpPr>
        <p:spPr>
          <a:xfrm>
            <a:off x="704088" y="5193792"/>
            <a:ext cx="274320" cy="274320"/>
          </a:xfrm>
          <a:prstGeom prst="rect">
            <a:avLst/>
          </a:prstGeom>
          <a:noFill/>
          <a:ln/>
        </p:spPr>
        <p:txBody>
          <a:bodyPr wrap="square" lIns="0" tIns="0" rIns="0" bIns="0" rtlCol="0" anchor="ctr"/>
          <a:lstStyle/>
          <a:p>
            <a:pPr marL="0" indent="0" algn="ctr">
              <a:buNone/>
            </a:pPr>
            <a:r>
              <a:rPr lang="en-US" sz="1400" b="1" i="1" dirty="0">
                <a:solidFill>
                  <a:srgbClr val="FFFFFF"/>
                </a:solidFill>
                <a:latin typeface="Cambria" pitchFamily="34" charset="0"/>
                <a:ea typeface="Cambria" pitchFamily="34" charset="-122"/>
                <a:cs typeface="Cambria" pitchFamily="34" charset="-120"/>
              </a:rPr>
              <a:t>i</a:t>
            </a:r>
            <a:endParaRPr lang="en-US" sz="1400" dirty="0"/>
          </a:p>
        </p:txBody>
      </p:sp>
      <p:sp>
        <p:nvSpPr>
          <p:cNvPr id="51" name="Text 48"/>
          <p:cNvSpPr txBox="1"/>
          <p:nvPr/>
        </p:nvSpPr>
        <p:spPr>
          <a:xfrm>
            <a:off x="1097280" y="5157216"/>
            <a:ext cx="5989320" cy="237744"/>
          </a:xfrm>
          <a:prstGeom prst="rect">
            <a:avLst/>
          </a:prstGeom>
          <a:noFill/>
          <a:ln/>
        </p:spPr>
        <p:txBody>
          <a:bodyPr wrap="square" lIns="0" tIns="0" rIns="0" bIns="0" rtlCol="0" anchor="ctr"/>
          <a:lstStyle/>
          <a:p>
            <a:pPr marL="0" indent="0">
              <a:buNone/>
            </a:pPr>
            <a:r>
              <a:rPr lang="en-US" sz="1250" b="1" dirty="0">
                <a:solidFill>
                  <a:srgbClr val="1B1140"/>
                </a:solidFill>
                <a:latin typeface="Calibri" pitchFamily="34" charset="0"/>
                <a:ea typeface="Calibri" pitchFamily="34" charset="-122"/>
                <a:cs typeface="Calibri" pitchFamily="34" charset="-120"/>
              </a:rPr>
              <a:t>Insight — the missing 5★ tail</a:t>
            </a:r>
            <a:endParaRPr lang="en-US" sz="1250" dirty="0"/>
          </a:p>
        </p:txBody>
      </p:sp>
      <p:sp>
        <p:nvSpPr>
          <p:cNvPr id="52" name="Text 49"/>
          <p:cNvSpPr txBox="1"/>
          <p:nvPr/>
        </p:nvSpPr>
        <p:spPr>
          <a:xfrm>
            <a:off x="1097280" y="5431536"/>
            <a:ext cx="5989320" cy="713232"/>
          </a:xfrm>
          <a:prstGeom prst="rect">
            <a:avLst/>
          </a:prstGeom>
          <a:noFill/>
          <a:ln/>
        </p:spPr>
        <p:txBody>
          <a:bodyPr wrap="square" lIns="0" tIns="0" rIns="0" bIns="0" rtlCol="0" anchor="t"/>
          <a:lstStyle/>
          <a:p>
            <a:pPr marL="0" indent="0">
              <a:lnSpc>
                <a:spcPct val="115000"/>
              </a:lnSpc>
              <a:buNone/>
            </a:pPr>
            <a:r>
              <a:rPr lang="en-US" sz="1150" dirty="0">
                <a:solidFill>
                  <a:srgbClr val="5B5670"/>
                </a:solidFill>
                <a:latin typeface="Calibri" pitchFamily="34" charset="0"/>
                <a:ea typeface="Calibri" pitchFamily="34" charset="-122"/>
                <a:cs typeface="Calibri" pitchFamily="34" charset="-120"/>
              </a:rPr>
              <a:t>Ratings are compressed at 'acceptable': 74.9% of drivers score exactly 4★ and only 2.5% reach 5★, while 22.6% sit at 3★. Scores are also identical across all seven vehicle types (4.23–4.24), so quality variation is driver-level, not fleet-level.</a:t>
            </a:r>
            <a:endParaRPr lang="en-US" sz="1150" dirty="0"/>
          </a:p>
        </p:txBody>
      </p:sp>
      <p:sp>
        <p:nvSpPr>
          <p:cNvPr id="53" name="Text 50"/>
          <p:cNvSpPr txBox="1"/>
          <p:nvPr/>
        </p:nvSpPr>
        <p:spPr>
          <a:xfrm>
            <a:off x="502920" y="6419088"/>
            <a:ext cx="7315200" cy="219456"/>
          </a:xfrm>
          <a:prstGeom prst="rect">
            <a:avLst/>
          </a:prstGeom>
          <a:noFill/>
          <a:ln/>
        </p:spPr>
        <p:txBody>
          <a:bodyPr wrap="square" lIns="0" tIns="0" rIns="0" bIns="0" rtlCol="0" anchor="ctr"/>
          <a:lstStyle/>
          <a:p>
            <a:pPr marL="0" indent="0">
              <a:buNone/>
            </a:pPr>
            <a:r>
              <a:rPr lang="en-US" sz="850" dirty="0">
                <a:solidFill>
                  <a:srgbClr val="9A94AD"/>
                </a:solidFill>
                <a:latin typeface="Calibri" pitchFamily="34" charset="0"/>
                <a:ea typeface="Calibri" pitchFamily="34" charset="-122"/>
                <a:cs typeface="Calibri" pitchFamily="34" charset="-120"/>
              </a:rPr>
              <a:t>NCR Ride Booking · Executive Analytics Review · Jan–Dec 2024</a:t>
            </a:r>
            <a:endParaRPr lang="en-US" sz="850" dirty="0"/>
          </a:p>
        </p:txBody>
      </p:sp>
      <p:sp>
        <p:nvSpPr>
          <p:cNvPr id="54" name="Text 51"/>
          <p:cNvSpPr txBox="1"/>
          <p:nvPr/>
        </p:nvSpPr>
        <p:spPr>
          <a:xfrm>
            <a:off x="11155680" y="6419088"/>
            <a:ext cx="502920" cy="219456"/>
          </a:xfrm>
          <a:prstGeom prst="rect">
            <a:avLst/>
          </a:prstGeom>
          <a:noFill/>
          <a:ln/>
        </p:spPr>
        <p:txBody>
          <a:bodyPr wrap="square" lIns="0" tIns="0" rIns="0" bIns="0" rtlCol="0" anchor="ctr"/>
          <a:lstStyle/>
          <a:p>
            <a:pPr marL="0" indent="0" algn="r">
              <a:buNone/>
            </a:pPr>
            <a:r>
              <a:rPr lang="en-US" sz="850" dirty="0">
                <a:solidFill>
                  <a:srgbClr val="9A94AD"/>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1140"/>
        </a:solidFill>
        <a:effectLst/>
      </p:bgPr>
    </p:bg>
    <p:spTree>
      <p:nvGrpSpPr>
        <p:cNvPr id="1" name=""/>
        <p:cNvGrpSpPr/>
        <p:nvPr/>
      </p:nvGrpSpPr>
      <p:grpSpPr>
        <a:xfrm>
          <a:off x="0" y="0"/>
          <a:ext cx="0" cy="0"/>
          <a:chOff x="0" y="0"/>
          <a:chExt cx="0" cy="0"/>
        </a:xfrm>
      </p:grpSpPr>
      <p:sp>
        <p:nvSpPr>
          <p:cNvPr id="2" name="Shape 0"/>
          <p:cNvSpPr/>
          <p:nvPr/>
        </p:nvSpPr>
        <p:spPr>
          <a:xfrm>
            <a:off x="-1645920" y="4206240"/>
            <a:ext cx="4572000" cy="4572000"/>
          </a:xfrm>
          <a:prstGeom prst="ellipse">
            <a:avLst/>
          </a:prstGeom>
          <a:solidFill>
            <a:srgbClr val="2E2160"/>
          </a:solidFill>
          <a:ln w="12700">
            <a:solidFill>
              <a:srgbClr val="2E2160"/>
            </a:solidFill>
            <a:prstDash val="solid"/>
          </a:ln>
        </p:spPr>
      </p:sp>
      <p:sp>
        <p:nvSpPr>
          <p:cNvPr id="3" name="Text 1"/>
          <p:cNvSpPr txBox="1"/>
          <p:nvPr/>
        </p:nvSpPr>
        <p:spPr>
          <a:xfrm>
            <a:off x="640080" y="457200"/>
            <a:ext cx="7315200" cy="256032"/>
          </a:xfrm>
          <a:prstGeom prst="rect">
            <a:avLst/>
          </a:prstGeom>
          <a:noFill/>
          <a:ln/>
        </p:spPr>
        <p:txBody>
          <a:bodyPr wrap="square" lIns="0" tIns="0" rIns="0" bIns="0" rtlCol="0" anchor="ctr"/>
          <a:lstStyle/>
          <a:p>
            <a:pPr marL="0" indent="0">
              <a:buNone/>
            </a:pPr>
            <a:r>
              <a:rPr lang="en-US" sz="1200" b="1" kern="0" spc="300" dirty="0">
                <a:solidFill>
                  <a:srgbClr val="EDA100"/>
                </a:solidFill>
                <a:latin typeface="Calibri" pitchFamily="34" charset="0"/>
                <a:ea typeface="Calibri" pitchFamily="34" charset="-122"/>
                <a:cs typeface="Calibri" pitchFamily="34" charset="-120"/>
              </a:rPr>
              <a:t>RECOMMENDATIONS</a:t>
            </a:r>
            <a:endParaRPr lang="en-US" sz="1200" dirty="0"/>
          </a:p>
        </p:txBody>
      </p:sp>
      <p:sp>
        <p:nvSpPr>
          <p:cNvPr id="4" name="Text 2"/>
          <p:cNvSpPr txBox="1"/>
          <p:nvPr/>
        </p:nvSpPr>
        <p:spPr>
          <a:xfrm>
            <a:off x="640080" y="749808"/>
            <a:ext cx="1051560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Four moves, sized by what they return</a:t>
            </a:r>
            <a:endParaRPr lang="en-US" sz="3000" dirty="0"/>
          </a:p>
        </p:txBody>
      </p:sp>
      <p:sp>
        <p:nvSpPr>
          <p:cNvPr id="5" name="Shape 3"/>
          <p:cNvSpPr/>
          <p:nvPr/>
        </p:nvSpPr>
        <p:spPr>
          <a:xfrm>
            <a:off x="640080" y="1517904"/>
            <a:ext cx="384048" cy="384048"/>
          </a:xfrm>
          <a:prstGeom prst="ellipse">
            <a:avLst/>
          </a:prstGeom>
          <a:solidFill>
            <a:srgbClr val="EDA100"/>
          </a:solidFill>
          <a:ln w="12700">
            <a:solidFill>
              <a:srgbClr val="EDA100"/>
            </a:solidFill>
            <a:prstDash val="solid"/>
          </a:ln>
        </p:spPr>
      </p:sp>
      <p:sp>
        <p:nvSpPr>
          <p:cNvPr id="6" name="Text 4"/>
          <p:cNvSpPr txBox="1"/>
          <p:nvPr/>
        </p:nvSpPr>
        <p:spPr>
          <a:xfrm>
            <a:off x="640080" y="1517904"/>
            <a:ext cx="384048" cy="384048"/>
          </a:xfrm>
          <a:prstGeom prst="rect">
            <a:avLst/>
          </a:prstGeom>
          <a:noFill/>
          <a:ln/>
        </p:spPr>
        <p:txBody>
          <a:bodyPr wrap="square" lIns="0" tIns="0" rIns="0" bIns="0" rtlCol="0" anchor="ctr"/>
          <a:lstStyle/>
          <a:p>
            <a:pPr marL="0" indent="0" algn="ctr">
              <a:buNone/>
            </a:pPr>
            <a:r>
              <a:rPr lang="en-US" sz="1500" b="1" dirty="0">
                <a:solidFill>
                  <a:srgbClr val="1B1140"/>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170432" y="1481328"/>
            <a:ext cx="667512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Fix driver acceptance before anything else</a:t>
            </a:r>
            <a:endParaRPr lang="en-US" sz="1500" dirty="0"/>
          </a:p>
        </p:txBody>
      </p:sp>
      <p:sp>
        <p:nvSpPr>
          <p:cNvPr id="8" name="Text 6"/>
          <p:cNvSpPr txBox="1"/>
          <p:nvPr/>
        </p:nvSpPr>
        <p:spPr>
          <a:xfrm>
            <a:off x="1170432" y="1810512"/>
            <a:ext cx="8366760" cy="749808"/>
          </a:xfrm>
          <a:prstGeom prst="rect">
            <a:avLst/>
          </a:prstGeom>
          <a:noFill/>
          <a:ln/>
        </p:spPr>
        <p:txBody>
          <a:bodyPr wrap="square" lIns="0" tIns="0" rIns="0" bIns="0" rtlCol="0" anchor="ctr"/>
          <a:lstStyle/>
          <a:p>
            <a:pPr marL="0" indent="0">
              <a:lnSpc>
                <a:spcPct val="112000"/>
              </a:lnSpc>
              <a:buNone/>
            </a:pPr>
            <a:r>
              <a:rPr lang="en-US" sz="1050" dirty="0">
                <a:solidFill>
                  <a:srgbClr val="C9C2E8"/>
                </a:solidFill>
                <a:latin typeface="Calibri" pitchFamily="34" charset="0"/>
                <a:ea typeface="Calibri" pitchFamily="34" charset="-122"/>
                <a:cs typeface="Calibri" pitchFamily="34" charset="-120"/>
              </a:rPr>
              <a:t>28.1% of bookings fail for driver-attributable reasons. Introduce acceptance-rate thresholds, penalise late-stage cancellations after assignment, and surface pickup-ETA drift — the same intervention addresses driver cancels, 'no driver found', and the 4,630 customer cancellations caused by drivers.</a:t>
            </a:r>
            <a:endParaRPr lang="en-US" sz="1050" dirty="0"/>
          </a:p>
        </p:txBody>
      </p:sp>
      <p:sp>
        <p:nvSpPr>
          <p:cNvPr id="9" name="Text 7"/>
          <p:cNvSpPr txBox="1"/>
          <p:nvPr/>
        </p:nvSpPr>
        <p:spPr>
          <a:xfrm>
            <a:off x="9692640" y="1499616"/>
            <a:ext cx="1920240" cy="457200"/>
          </a:xfrm>
          <a:prstGeom prst="rect">
            <a:avLst/>
          </a:prstGeom>
          <a:noFill/>
          <a:ln/>
        </p:spPr>
        <p:txBody>
          <a:bodyPr wrap="square" lIns="0" tIns="0" rIns="0" bIns="0" rtlCol="0" anchor="ctr"/>
          <a:lstStyle/>
          <a:p>
            <a:pPr marL="0" indent="0" algn="r">
              <a:buNone/>
            </a:pPr>
            <a:r>
              <a:rPr lang="en-US" sz="2100" b="1" dirty="0">
                <a:solidFill>
                  <a:srgbClr val="EDA100"/>
                </a:solidFill>
                <a:latin typeface="Cambria" pitchFamily="34" charset="0"/>
                <a:ea typeface="Cambria" pitchFamily="34" charset="-122"/>
                <a:cs typeface="Cambria" pitchFamily="34" charset="-120"/>
              </a:rPr>
              <a:t>₹19.1M</a:t>
            </a:r>
            <a:endParaRPr lang="en-US" sz="2100" dirty="0"/>
          </a:p>
        </p:txBody>
      </p:sp>
      <p:sp>
        <p:nvSpPr>
          <p:cNvPr id="10" name="Text 8"/>
          <p:cNvSpPr txBox="1"/>
          <p:nvPr/>
        </p:nvSpPr>
        <p:spPr>
          <a:xfrm>
            <a:off x="9692640" y="1956816"/>
            <a:ext cx="1920240" cy="237744"/>
          </a:xfrm>
          <a:prstGeom prst="rect">
            <a:avLst/>
          </a:prstGeom>
          <a:noFill/>
          <a:ln/>
        </p:spPr>
        <p:txBody>
          <a:bodyPr wrap="square" lIns="0" tIns="0" rIns="0" bIns="0" rtlCol="0" anchor="ctr"/>
          <a:lstStyle/>
          <a:p>
            <a:pPr marL="0" indent="0" algn="r">
              <a:buNone/>
            </a:pPr>
            <a:r>
              <a:rPr lang="en-US" sz="950" dirty="0">
                <a:solidFill>
                  <a:srgbClr val="8F87B8"/>
                </a:solidFill>
                <a:latin typeface="Calibri" pitchFamily="34" charset="0"/>
                <a:ea typeface="Calibri" pitchFamily="34" charset="-122"/>
                <a:cs typeface="Calibri" pitchFamily="34" charset="-120"/>
              </a:rPr>
              <a:t>annual value</a:t>
            </a:r>
            <a:endParaRPr lang="en-US" sz="950" dirty="0"/>
          </a:p>
        </p:txBody>
      </p:sp>
      <p:sp>
        <p:nvSpPr>
          <p:cNvPr id="11" name="Shape 9"/>
          <p:cNvSpPr/>
          <p:nvPr/>
        </p:nvSpPr>
        <p:spPr>
          <a:xfrm>
            <a:off x="640080" y="2724912"/>
            <a:ext cx="384048" cy="384048"/>
          </a:xfrm>
          <a:prstGeom prst="ellipse">
            <a:avLst/>
          </a:prstGeom>
          <a:solidFill>
            <a:srgbClr val="EDA100"/>
          </a:solidFill>
          <a:ln w="12700">
            <a:solidFill>
              <a:srgbClr val="EDA100"/>
            </a:solidFill>
            <a:prstDash val="solid"/>
          </a:ln>
        </p:spPr>
      </p:sp>
      <p:sp>
        <p:nvSpPr>
          <p:cNvPr id="12" name="Text 10"/>
          <p:cNvSpPr txBox="1"/>
          <p:nvPr/>
        </p:nvSpPr>
        <p:spPr>
          <a:xfrm>
            <a:off x="640080" y="2724912"/>
            <a:ext cx="384048" cy="384048"/>
          </a:xfrm>
          <a:prstGeom prst="rect">
            <a:avLst/>
          </a:prstGeom>
          <a:noFill/>
          <a:ln/>
        </p:spPr>
        <p:txBody>
          <a:bodyPr wrap="square" lIns="0" tIns="0" rIns="0" bIns="0" rtlCol="0" anchor="ctr"/>
          <a:lstStyle/>
          <a:p>
            <a:pPr marL="0" indent="0" algn="ctr">
              <a:buNone/>
            </a:pPr>
            <a:r>
              <a:rPr lang="en-US" sz="1500" b="1" dirty="0">
                <a:solidFill>
                  <a:srgbClr val="1B1140"/>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170432" y="2688336"/>
            <a:ext cx="667512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Target a 67% completion rate this year</a:t>
            </a:r>
            <a:endParaRPr lang="en-US" sz="1500" dirty="0"/>
          </a:p>
        </p:txBody>
      </p:sp>
      <p:sp>
        <p:nvSpPr>
          <p:cNvPr id="14" name="Text 12"/>
          <p:cNvSpPr txBox="1"/>
          <p:nvPr/>
        </p:nvSpPr>
        <p:spPr>
          <a:xfrm>
            <a:off x="1170432" y="3017520"/>
            <a:ext cx="8366760" cy="749808"/>
          </a:xfrm>
          <a:prstGeom prst="rect">
            <a:avLst/>
          </a:prstGeom>
          <a:noFill/>
          <a:ln/>
        </p:spPr>
        <p:txBody>
          <a:bodyPr wrap="square" lIns="0" tIns="0" rIns="0" bIns="0" rtlCol="0" anchor="ctr"/>
          <a:lstStyle/>
          <a:p>
            <a:pPr marL="0" indent="0">
              <a:lnSpc>
                <a:spcPct val="112000"/>
              </a:lnSpc>
              <a:buNone/>
            </a:pPr>
            <a:r>
              <a:rPr lang="en-US" sz="1050" dirty="0">
                <a:solidFill>
                  <a:srgbClr val="C9C2E8"/>
                </a:solidFill>
                <a:latin typeface="Calibri" pitchFamily="34" charset="0"/>
                <a:ea typeface="Calibri" pitchFamily="34" charset="-122"/>
                <a:cs typeface="Calibri" pitchFamily="34" charset="-120"/>
              </a:rPr>
              <a:t>Each completion point is worth ~₹762,000. A five-point gain needs no new demand and no new marketing spend — only conversion of bookings already being placed.</a:t>
            </a:r>
            <a:endParaRPr lang="en-US" sz="1050" dirty="0"/>
          </a:p>
        </p:txBody>
      </p:sp>
      <p:sp>
        <p:nvSpPr>
          <p:cNvPr id="15" name="Text 13"/>
          <p:cNvSpPr txBox="1"/>
          <p:nvPr/>
        </p:nvSpPr>
        <p:spPr>
          <a:xfrm>
            <a:off x="9692640" y="2706624"/>
            <a:ext cx="1920240" cy="457200"/>
          </a:xfrm>
          <a:prstGeom prst="rect">
            <a:avLst/>
          </a:prstGeom>
          <a:noFill/>
          <a:ln/>
        </p:spPr>
        <p:txBody>
          <a:bodyPr wrap="square" lIns="0" tIns="0" rIns="0" bIns="0" rtlCol="0" anchor="ctr"/>
          <a:lstStyle/>
          <a:p>
            <a:pPr marL="0" indent="0" algn="r">
              <a:buNone/>
            </a:pPr>
            <a:r>
              <a:rPr lang="en-US" sz="2100" b="1" dirty="0">
                <a:solidFill>
                  <a:srgbClr val="EDA100"/>
                </a:solidFill>
                <a:latin typeface="Cambria" pitchFamily="34" charset="0"/>
                <a:ea typeface="Cambria" pitchFamily="34" charset="-122"/>
                <a:cs typeface="Cambria" pitchFamily="34" charset="-120"/>
              </a:rPr>
              <a:t>₹3.8M</a:t>
            </a:r>
            <a:endParaRPr lang="en-US" sz="2100" dirty="0"/>
          </a:p>
        </p:txBody>
      </p:sp>
      <p:sp>
        <p:nvSpPr>
          <p:cNvPr id="16" name="Text 14"/>
          <p:cNvSpPr txBox="1"/>
          <p:nvPr/>
        </p:nvSpPr>
        <p:spPr>
          <a:xfrm>
            <a:off x="9692640" y="3163824"/>
            <a:ext cx="1920240" cy="237744"/>
          </a:xfrm>
          <a:prstGeom prst="rect">
            <a:avLst/>
          </a:prstGeom>
          <a:noFill/>
          <a:ln/>
        </p:spPr>
        <p:txBody>
          <a:bodyPr wrap="square" lIns="0" tIns="0" rIns="0" bIns="0" rtlCol="0" anchor="ctr"/>
          <a:lstStyle/>
          <a:p>
            <a:pPr marL="0" indent="0" algn="r">
              <a:buNone/>
            </a:pPr>
            <a:r>
              <a:rPr lang="en-US" sz="950" dirty="0">
                <a:solidFill>
                  <a:srgbClr val="8F87B8"/>
                </a:solidFill>
                <a:latin typeface="Calibri" pitchFamily="34" charset="0"/>
                <a:ea typeface="Calibri" pitchFamily="34" charset="-122"/>
                <a:cs typeface="Calibri" pitchFamily="34" charset="-120"/>
              </a:rPr>
              <a:t>annual value</a:t>
            </a:r>
            <a:endParaRPr lang="en-US" sz="950" dirty="0"/>
          </a:p>
        </p:txBody>
      </p:sp>
      <p:sp>
        <p:nvSpPr>
          <p:cNvPr id="17" name="Shape 15"/>
          <p:cNvSpPr/>
          <p:nvPr/>
        </p:nvSpPr>
        <p:spPr>
          <a:xfrm>
            <a:off x="640080" y="3931920"/>
            <a:ext cx="384048" cy="384048"/>
          </a:xfrm>
          <a:prstGeom prst="ellipse">
            <a:avLst/>
          </a:prstGeom>
          <a:solidFill>
            <a:srgbClr val="EDA100"/>
          </a:solidFill>
          <a:ln w="12700">
            <a:solidFill>
              <a:srgbClr val="EDA100"/>
            </a:solidFill>
            <a:prstDash val="solid"/>
          </a:ln>
        </p:spPr>
      </p:sp>
      <p:sp>
        <p:nvSpPr>
          <p:cNvPr id="18" name="Text 16"/>
          <p:cNvSpPr txBox="1"/>
          <p:nvPr/>
        </p:nvSpPr>
        <p:spPr>
          <a:xfrm>
            <a:off x="640080" y="3931920"/>
            <a:ext cx="384048" cy="384048"/>
          </a:xfrm>
          <a:prstGeom prst="rect">
            <a:avLst/>
          </a:prstGeom>
          <a:noFill/>
          <a:ln/>
        </p:spPr>
        <p:txBody>
          <a:bodyPr wrap="square" lIns="0" tIns="0" rIns="0" bIns="0" rtlCol="0" anchor="ctr"/>
          <a:lstStyle/>
          <a:p>
            <a:pPr marL="0" indent="0" algn="ctr">
              <a:buNone/>
            </a:pPr>
            <a:r>
              <a:rPr lang="en-US" sz="1500" b="1" dirty="0">
                <a:solidFill>
                  <a:srgbClr val="1B1140"/>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1170432" y="3895344"/>
            <a:ext cx="667512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Build a reason to come back</a:t>
            </a:r>
            <a:endParaRPr lang="en-US" sz="1500" dirty="0"/>
          </a:p>
        </p:txBody>
      </p:sp>
      <p:sp>
        <p:nvSpPr>
          <p:cNvPr id="20" name="Text 18"/>
          <p:cNvSpPr txBox="1"/>
          <p:nvPr/>
        </p:nvSpPr>
        <p:spPr>
          <a:xfrm>
            <a:off x="1170432" y="4224528"/>
            <a:ext cx="8366760" cy="749808"/>
          </a:xfrm>
          <a:prstGeom prst="rect">
            <a:avLst/>
          </a:prstGeom>
          <a:noFill/>
          <a:ln/>
        </p:spPr>
        <p:txBody>
          <a:bodyPr wrap="square" lIns="0" tIns="0" rIns="0" bIns="0" rtlCol="0" anchor="ctr"/>
          <a:lstStyle/>
          <a:p>
            <a:pPr marL="0" indent="0">
              <a:lnSpc>
                <a:spcPct val="112000"/>
              </a:lnSpc>
              <a:buNone/>
            </a:pPr>
            <a:r>
              <a:rPr lang="en-US" sz="1050" dirty="0">
                <a:solidFill>
                  <a:srgbClr val="C9C2E8"/>
                </a:solidFill>
                <a:latin typeface="Calibri" pitchFamily="34" charset="0"/>
                <a:ea typeface="Calibri" pitchFamily="34" charset="-122"/>
                <a:cs typeface="Calibri" pitchFamily="34" charset="-120"/>
              </a:rPr>
              <a:t>148,788 customers produced 150,000 rides. Launch ride credits, a saved-route or commute pass, and a lapsed-rider win-back — even a 5% repeat rate would add roughly 7,400 rides a year at zero acquisition cost.</a:t>
            </a:r>
            <a:endParaRPr lang="en-US" sz="1050" dirty="0"/>
          </a:p>
        </p:txBody>
      </p:sp>
      <p:sp>
        <p:nvSpPr>
          <p:cNvPr id="21" name="Text 19"/>
          <p:cNvSpPr txBox="1"/>
          <p:nvPr/>
        </p:nvSpPr>
        <p:spPr>
          <a:xfrm>
            <a:off x="9692640" y="3913632"/>
            <a:ext cx="1920240" cy="457200"/>
          </a:xfrm>
          <a:prstGeom prst="rect">
            <a:avLst/>
          </a:prstGeom>
          <a:noFill/>
          <a:ln/>
        </p:spPr>
        <p:txBody>
          <a:bodyPr wrap="square" lIns="0" tIns="0" rIns="0" bIns="0" rtlCol="0" anchor="ctr"/>
          <a:lstStyle/>
          <a:p>
            <a:pPr marL="0" indent="0" algn="r">
              <a:buNone/>
            </a:pPr>
            <a:r>
              <a:rPr lang="en-US" sz="2100" b="1" dirty="0">
                <a:solidFill>
                  <a:srgbClr val="EDA100"/>
                </a:solidFill>
                <a:latin typeface="Cambria" pitchFamily="34" charset="0"/>
                <a:ea typeface="Cambria" pitchFamily="34" charset="-122"/>
                <a:cs typeface="Cambria" pitchFamily="34" charset="-120"/>
              </a:rPr>
              <a:t>0.81% → ?</a:t>
            </a:r>
            <a:endParaRPr lang="en-US" sz="2100" dirty="0"/>
          </a:p>
        </p:txBody>
      </p:sp>
      <p:sp>
        <p:nvSpPr>
          <p:cNvPr id="22" name="Text 20"/>
          <p:cNvSpPr txBox="1"/>
          <p:nvPr/>
        </p:nvSpPr>
        <p:spPr>
          <a:xfrm>
            <a:off x="9692640" y="4370832"/>
            <a:ext cx="1920240" cy="237744"/>
          </a:xfrm>
          <a:prstGeom prst="rect">
            <a:avLst/>
          </a:prstGeom>
          <a:noFill/>
          <a:ln/>
        </p:spPr>
        <p:txBody>
          <a:bodyPr wrap="square" lIns="0" tIns="0" rIns="0" bIns="0" rtlCol="0" anchor="ctr"/>
          <a:lstStyle/>
          <a:p>
            <a:pPr marL="0" indent="0" algn="r">
              <a:buNone/>
            </a:pPr>
            <a:r>
              <a:rPr lang="en-US" sz="950" dirty="0">
                <a:solidFill>
                  <a:srgbClr val="8F87B8"/>
                </a:solidFill>
                <a:latin typeface="Calibri" pitchFamily="34" charset="0"/>
                <a:ea typeface="Calibri" pitchFamily="34" charset="-122"/>
                <a:cs typeface="Calibri" pitchFamily="34" charset="-120"/>
              </a:rPr>
              <a:t>repeat rate</a:t>
            </a:r>
            <a:endParaRPr lang="en-US" sz="950" dirty="0"/>
          </a:p>
        </p:txBody>
      </p:sp>
      <p:sp>
        <p:nvSpPr>
          <p:cNvPr id="23" name="Shape 21"/>
          <p:cNvSpPr/>
          <p:nvPr/>
        </p:nvSpPr>
        <p:spPr>
          <a:xfrm>
            <a:off x="640080" y="5138928"/>
            <a:ext cx="384048" cy="384048"/>
          </a:xfrm>
          <a:prstGeom prst="ellipse">
            <a:avLst/>
          </a:prstGeom>
          <a:solidFill>
            <a:srgbClr val="EDA100"/>
          </a:solidFill>
          <a:ln w="12700">
            <a:solidFill>
              <a:srgbClr val="EDA100"/>
            </a:solidFill>
            <a:prstDash val="solid"/>
          </a:ln>
        </p:spPr>
      </p:sp>
      <p:sp>
        <p:nvSpPr>
          <p:cNvPr id="24" name="Text 22"/>
          <p:cNvSpPr txBox="1"/>
          <p:nvPr/>
        </p:nvSpPr>
        <p:spPr>
          <a:xfrm>
            <a:off x="640080" y="5138928"/>
            <a:ext cx="384048" cy="384048"/>
          </a:xfrm>
          <a:prstGeom prst="rect">
            <a:avLst/>
          </a:prstGeom>
          <a:noFill/>
          <a:ln/>
        </p:spPr>
        <p:txBody>
          <a:bodyPr wrap="square" lIns="0" tIns="0" rIns="0" bIns="0" rtlCol="0" anchor="ctr"/>
          <a:lstStyle/>
          <a:p>
            <a:pPr marL="0" indent="0" algn="ctr">
              <a:buNone/>
            </a:pPr>
            <a:r>
              <a:rPr lang="en-US" sz="1500" b="1" dirty="0">
                <a:solidFill>
                  <a:srgbClr val="1B1140"/>
                </a:solidFill>
                <a:latin typeface="Cambria" pitchFamily="34" charset="0"/>
                <a:ea typeface="Cambria" pitchFamily="34" charset="-122"/>
                <a:cs typeface="Cambria" pitchFamily="34" charset="-120"/>
              </a:rPr>
              <a:t>4</a:t>
            </a:r>
            <a:endParaRPr lang="en-US" sz="1500" dirty="0"/>
          </a:p>
        </p:txBody>
      </p:sp>
      <p:sp>
        <p:nvSpPr>
          <p:cNvPr id="25" name="Text 23"/>
          <p:cNvSpPr txBox="1"/>
          <p:nvPr/>
        </p:nvSpPr>
        <p:spPr>
          <a:xfrm>
            <a:off x="1170432" y="5102352"/>
            <a:ext cx="667512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Close the quality tail and the cash tail</a:t>
            </a:r>
            <a:endParaRPr lang="en-US" sz="1500" dirty="0"/>
          </a:p>
        </p:txBody>
      </p:sp>
      <p:sp>
        <p:nvSpPr>
          <p:cNvPr id="26" name="Text 24"/>
          <p:cNvSpPr txBox="1"/>
          <p:nvPr/>
        </p:nvSpPr>
        <p:spPr>
          <a:xfrm>
            <a:off x="1170432" y="5431536"/>
            <a:ext cx="8366760" cy="749808"/>
          </a:xfrm>
          <a:prstGeom prst="rect">
            <a:avLst/>
          </a:prstGeom>
          <a:noFill/>
          <a:ln/>
        </p:spPr>
        <p:txBody>
          <a:bodyPr wrap="square" lIns="0" tIns="0" rIns="0" bIns="0" rtlCol="0" anchor="ctr"/>
          <a:lstStyle/>
          <a:p>
            <a:pPr marL="0" indent="0">
              <a:lnSpc>
                <a:spcPct val="112000"/>
              </a:lnSpc>
              <a:buNone/>
            </a:pPr>
            <a:r>
              <a:rPr lang="en-US" sz="1050" dirty="0">
                <a:solidFill>
                  <a:srgbClr val="C9C2E8"/>
                </a:solidFill>
                <a:latin typeface="Calibri" pitchFamily="34" charset="0"/>
                <a:ea typeface="Calibri" pitchFamily="34" charset="-122"/>
                <a:cs typeface="Calibri" pitchFamily="34" charset="-120"/>
              </a:rPr>
              <a:t>Only 2.5% of rides earn 5★ while 22.6% sit at 3★ — coach the bottom decile and reward the top. In parallel, migrate part of the ₹12.9M still settling in cash to UPI to cut reconciliation load and float risk.</a:t>
            </a:r>
            <a:endParaRPr lang="en-US" sz="1050" dirty="0"/>
          </a:p>
        </p:txBody>
      </p:sp>
      <p:sp>
        <p:nvSpPr>
          <p:cNvPr id="27" name="Text 25"/>
          <p:cNvSpPr txBox="1"/>
          <p:nvPr/>
        </p:nvSpPr>
        <p:spPr>
          <a:xfrm>
            <a:off x="9692640" y="5120640"/>
            <a:ext cx="1920240" cy="457200"/>
          </a:xfrm>
          <a:prstGeom prst="rect">
            <a:avLst/>
          </a:prstGeom>
          <a:noFill/>
          <a:ln/>
        </p:spPr>
        <p:txBody>
          <a:bodyPr wrap="square" lIns="0" tIns="0" rIns="0" bIns="0" rtlCol="0" anchor="ctr"/>
          <a:lstStyle/>
          <a:p>
            <a:pPr marL="0" indent="0" algn="r">
              <a:buNone/>
            </a:pPr>
            <a:r>
              <a:rPr lang="en-US" sz="2100" b="1" dirty="0">
                <a:solidFill>
                  <a:srgbClr val="EDA100"/>
                </a:solidFill>
                <a:latin typeface="Cambria" pitchFamily="34" charset="0"/>
                <a:ea typeface="Cambria" pitchFamily="34" charset="-122"/>
                <a:cs typeface="Cambria" pitchFamily="34" charset="-120"/>
              </a:rPr>
              <a:t>₹12.9M</a:t>
            </a:r>
            <a:endParaRPr lang="en-US" sz="2100" dirty="0"/>
          </a:p>
        </p:txBody>
      </p:sp>
      <p:sp>
        <p:nvSpPr>
          <p:cNvPr id="28" name="Text 26"/>
          <p:cNvSpPr txBox="1"/>
          <p:nvPr/>
        </p:nvSpPr>
        <p:spPr>
          <a:xfrm>
            <a:off x="9692640" y="5577840"/>
            <a:ext cx="1920240" cy="237744"/>
          </a:xfrm>
          <a:prstGeom prst="rect">
            <a:avLst/>
          </a:prstGeom>
          <a:noFill/>
          <a:ln/>
        </p:spPr>
        <p:txBody>
          <a:bodyPr wrap="square" lIns="0" tIns="0" rIns="0" bIns="0" rtlCol="0" anchor="ctr"/>
          <a:lstStyle/>
          <a:p>
            <a:pPr marL="0" indent="0" algn="r">
              <a:buNone/>
            </a:pPr>
            <a:r>
              <a:rPr lang="en-US" sz="950" dirty="0">
                <a:solidFill>
                  <a:srgbClr val="8F87B8"/>
                </a:solidFill>
                <a:latin typeface="Calibri" pitchFamily="34" charset="0"/>
                <a:ea typeface="Calibri" pitchFamily="34" charset="-122"/>
                <a:cs typeface="Calibri" pitchFamily="34" charset="-120"/>
              </a:rPr>
              <a:t>cash to migrate</a:t>
            </a:r>
            <a:endParaRPr lang="en-US" sz="950" dirty="0"/>
          </a:p>
        </p:txBody>
      </p:sp>
      <p:sp>
        <p:nvSpPr>
          <p:cNvPr id="29" name="Text 27"/>
          <p:cNvSpPr txBox="1"/>
          <p:nvPr/>
        </p:nvSpPr>
        <p:spPr>
          <a:xfrm>
            <a:off x="640080" y="6327648"/>
            <a:ext cx="10972800" cy="274320"/>
          </a:xfrm>
          <a:prstGeom prst="rect">
            <a:avLst/>
          </a:prstGeom>
          <a:noFill/>
          <a:ln/>
        </p:spPr>
        <p:txBody>
          <a:bodyPr wrap="square" lIns="0" tIns="0" rIns="0" bIns="0" rtlCol="0" anchor="ctr"/>
          <a:lstStyle/>
          <a:p>
            <a:pPr marL="0" indent="0">
              <a:buNone/>
            </a:pPr>
            <a:r>
              <a:rPr lang="en-US" sz="1100" i="1" dirty="0">
                <a:solidFill>
                  <a:srgbClr val="EDA100"/>
                </a:solidFill>
                <a:latin typeface="Calibri" pitchFamily="34" charset="0"/>
                <a:ea typeface="Calibri" pitchFamily="34" charset="-122"/>
                <a:cs typeface="Calibri" pitchFamily="34" charset="-120"/>
              </a:rPr>
              <a:t>Combined recoverable value identified: ₹24.4M — a 51.6% uplift on the ₹47.3M in completed-ride revenue earned this year.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1B38DF6-0FC4-4042-AC95-F3A7F89B1A52}">
  <we:reference id="wa200010001" version="1.0.0.1" store="en-US" storeType="OMEX"/>
  <we:alternateReferences>
    <we:reference id="wa200010001" version="1.0.0.1" store="wa200010001" storeType="OMEX"/>
  </we:alternateReferences>
  <we:properties>
    <we:property name="claude.fileId" value="&quot;a39cc8d6-6687-42bf-926d-5ce8b473a85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138</TotalTime>
  <Words>2384</Words>
  <Application>Microsoft Office PowerPoint</Application>
  <PresentationFormat>Widescreen</PresentationFormat>
  <Paragraphs>287</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NCR Ride Booking — Executive Analytics Review</dc:title>
  <dc:subject>PptxGenJS Presentation</dc:subject>
  <dc:creator>NCR Ride Booking Analytics</dc:creator>
  <cp:lastModifiedBy>Chirayil, Antony</cp:lastModifiedBy>
  <cp:revision>1</cp:revision>
  <dcterms:created xsi:type="dcterms:W3CDTF">2026-09-05T18:00:23Z</dcterms:created>
  <dcterms:modified xsi:type="dcterms:W3CDTF">2026-09-06T06:45:01Z</dcterms:modified>
</cp:coreProperties>
</file>